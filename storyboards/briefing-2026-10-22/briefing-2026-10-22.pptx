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2.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B3B3A"/>
                </a:solidFill>
                <a:latin typeface="+mn-lt"/>
              </a:defRPr>
            </a:pPr>
            <a:r>
              <a:rPr sz="1400" b="0" i="0" u="none" strike="noStrike">
                <a:solidFill>
                  <a:srgbClr val="0B3B3A"/>
                </a:solidFill>
                <a:latin typeface="+mn-lt"/>
              </a:rPr>
              <a:t>Statements by status</a:t>
            </a:r>
          </a:p>
        </c:rich>
      </c:tx>
      <c:layout/>
      <c:overlay val="0"/>
    </c:title>
    <c:autoTitleDeleted val="0"/>
    <c:plotArea>
      <c:layout/>
      <c:barChart>
        <c:barDir val="bar"/>
        <c:grouping val="clustered"/>
        <c:varyColors val="0"/>
        <c:ser>
          <c:idx val="0"/>
          <c:order val="0"/>
          <c:tx>
            <c:strRef>
              <c:f>Sheet1!$B$1</c:f>
              <c:strCache>
                <c:ptCount val="1"/>
                <c:pt idx="0">
                  <c:v>Statements by status</c:v>
                </c:pt>
              </c:strCache>
            </c:strRef>
          </c:tx>
          <c:spPr>
            <a:solidFill>
              <a:srgbClr val="15803D"/>
            </a:solidFill>
            <a:effectLst/>
          </c:spPr>
          <c:invertIfNegative val="0"/>
          <c:dLbls>
            <c:numFmt formatCode="#,##0" sourceLinked="0"/>
            <c:txPr>
              <a:bodyPr/>
              <a:lstStyle/>
              <a:p>
                <a:pPr>
                  <a:defRPr b="0" i="0" strike="noStrike" sz="1200" u="none">
                    <a:solidFill>
                      <a:srgbClr val="16202C"/>
                    </a:solidFill>
                    <a:latin typeface="+mn-lt"/>
                  </a:defRPr>
                </a:pPr>
              </a:p>
            </c:txPr>
            <c:showLegendKey val="0"/>
            <c:showVal val="1"/>
            <c:showCatName val="0"/>
            <c:showSerName val="0"/>
            <c:showPercent val="0"/>
            <c:showBubbleSize val="0"/>
            <c:showLeaderLines val="0"/>
          </c:dLbls>
          <c:dPt>
            <c:idx val="0"/>
            <c:invertIfNegative val="0"/>
            <c:bubble3D val="0"/>
            <c:spPr>
              <a:solidFill>
                <a:srgbClr val="15803d"/>
              </a:solidFill>
              <a:effectLst/>
            </c:spPr>
          </c:dPt>
          <c:dPt>
            <c:idx val="1"/>
            <c:invertIfNegative val="0"/>
            <c:bubble3D val="0"/>
            <c:spPr>
              <a:solidFill>
                <a:srgbClr val="2563eb"/>
              </a:solidFill>
              <a:effectLst/>
            </c:spPr>
          </c:dPt>
          <c:dPt>
            <c:idx val="2"/>
            <c:invertIfNegative val="0"/>
            <c:bubble3D val="0"/>
            <c:spPr>
              <a:solidFill>
                <a:srgbClr val="d97706"/>
              </a:solidFill>
              <a:effectLst/>
            </c:spPr>
          </c:dPt>
          <c:dPt>
            <c:idx val="3"/>
            <c:invertIfNegative val="0"/>
            <c:bubble3D val="0"/>
            <c:spPr>
              <a:solidFill>
                <a:srgbClr val="b91c1c"/>
              </a:solidFill>
              <a:effectLst/>
            </c:spPr>
          </c:dPt>
          <c:dPt>
            <c:idx val="4"/>
            <c:invertIfNegative val="0"/>
            <c:bubble3D val="0"/>
            <c:spPr>
              <a:solidFill>
                <a:srgbClr val="6b7280"/>
              </a:solidFill>
              <a:effectLst/>
            </c:spPr>
          </c:dPt>
          <c:cat>
            <c:multiLvlStrRef>
              <c:f>Sheet1!$A$2:$A$6</c:f>
              <c:multiLvlStrCache>
                <c:ptCount val="5"/>
                <c:lvl>
                  <c:pt idx="0">
                    <c:v>confirmed</c:v>
                  </c:pt>
                  <c:pt idx="1">
                    <c:v>reported</c:v>
                  </c:pt>
                  <c:pt idx="2">
                    <c:v>disputed</c:v>
                  </c:pt>
                  <c:pt idx="3">
                    <c:v>contradicted</c:v>
                  </c:pt>
                  <c:pt idx="4">
                    <c:v>unverified</c:v>
                  </c:pt>
                </c:lvl>
              </c:multiLvlStrCache>
            </c:multiLvlStrRef>
          </c:cat>
          <c:val>
            <c:numRef>
              <c:f>Sheet1!$B$2:$B$6</c:f>
              <c:numCache>
                <c:formatCode>General</c:formatCode>
                <c:ptCount val="5"/>
                <c:pt idx="0">
                  <c:v>22</c:v>
                </c:pt>
                <c:pt idx="1">
                  <c:v>33</c:v>
                </c:pt>
                <c:pt idx="2">
                  <c:v>8</c:v>
                </c:pt>
                <c:pt idx="3">
                  <c:v>3</c:v>
                </c:pt>
                <c:pt idx="4">
                  <c:v>4</c:v>
                </c:pt>
              </c:numCache>
            </c:numRef>
          </c:val>
        </c:ser>
        <c:dLbls>
          <c:numFmt formatCode="#,##0" sourceLinked="0"/>
          <c:txPr>
            <a:bodyPr/>
            <a:lstStyle/>
            <a:p>
              <a:pPr>
                <a:defRPr b="0" i="0" strike="noStrike" sz="1200" u="none">
                  <a:solidFill>
                    <a:srgbClr val="16202C"/>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334155"/>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B3B3A"/>
                </a:solidFill>
                <a:latin typeface="+mn-lt"/>
              </a:defRPr>
            </a:pPr>
            <a:r>
              <a:rPr sz="1400" b="0" i="0" u="none" strike="noStrike">
                <a:solidFill>
                  <a:srgbClr val="0B3B3A"/>
                </a:solidFill>
                <a:latin typeface="+mn-lt"/>
              </a:rPr>
              <a:t>16 agencies, if you cannot update</a:t>
            </a:r>
          </a:p>
        </c:rich>
      </c:tx>
      <c:layout/>
      <c:overlay val="0"/>
    </c:title>
    <c:autoTitleDeleted val="0"/>
    <c:plotArea>
      <c:layout/>
      <c:barChart>
        <c:barDir val="bar"/>
        <c:grouping val="clustered"/>
        <c:varyColors val="0"/>
        <c:ser>
          <c:idx val="0"/>
          <c:order val="0"/>
          <c:tx>
            <c:strRef>
              <c:f>Sheet1!$B$1</c:f>
              <c:strCache>
                <c:ptCount val="1"/>
                <c:pt idx="0">
                  <c:v>16 agencies, if you cannot update</c:v>
                </c:pt>
              </c:strCache>
            </c:strRef>
          </c:tx>
          <c:spPr>
            <a:solidFill>
              <a:srgbClr val="B91C1C"/>
            </a:solidFill>
            <a:effectLst/>
          </c:spPr>
          <c:invertIfNegative val="0"/>
          <c:dLbls>
            <c:numFmt formatCode="#,##0" sourceLinked="0"/>
            <c:txPr>
              <a:bodyPr/>
              <a:lstStyle/>
              <a:p>
                <a:pPr>
                  <a:defRPr b="0" i="0" strike="noStrike" sz="1200" u="none">
                    <a:solidFill>
                      <a:srgbClr val="16202C"/>
                    </a:solidFill>
                    <a:latin typeface="+mn-lt"/>
                  </a:defRPr>
                </a:pPr>
              </a:p>
            </c:txPr>
            <c:showLegendKey val="0"/>
            <c:showVal val="1"/>
            <c:showCatName val="0"/>
            <c:showSerName val="0"/>
            <c:showPercent val="0"/>
            <c:showBubbleSize val="0"/>
            <c:showLeaderLines val="0"/>
          </c:dLbls>
          <c:dPt>
            <c:idx val="0"/>
            <c:invertIfNegative val="0"/>
            <c:bubble3D val="0"/>
            <c:spPr>
              <a:solidFill>
                <a:srgbClr val="b91c1c"/>
              </a:solidFill>
              <a:effectLst/>
            </c:spPr>
          </c:dPt>
          <c:dPt>
            <c:idx val="1"/>
            <c:invertIfNegative val="0"/>
            <c:bubble3D val="0"/>
            <c:spPr>
              <a:solidFill>
                <a:srgbClr val="ea580c"/>
              </a:solidFill>
              <a:effectLst/>
            </c:spPr>
          </c:dPt>
          <c:dPt>
            <c:idx val="2"/>
            <c:invertIfNegative val="0"/>
            <c:bubble3D val="0"/>
            <c:spPr>
              <a:solidFill>
                <a:srgbClr val="d97706"/>
              </a:solidFill>
              <a:effectLst/>
            </c:spPr>
          </c:dPt>
          <c:dPt>
            <c:idx val="3"/>
            <c:invertIfNegative val="0"/>
            <c:bubble3D val="0"/>
            <c:spPr>
              <a:solidFill>
                <a:srgbClr val="4f46e5"/>
              </a:solidFill>
              <a:effectLst/>
            </c:spPr>
          </c:dPt>
          <c:dPt>
            <c:idx val="4"/>
            <c:invertIfNegative val="0"/>
            <c:bubble3D val="0"/>
            <c:spPr>
              <a:solidFill>
                <a:srgbClr val="6b7280"/>
              </a:solidFill>
              <a:effectLst/>
            </c:spPr>
          </c:dPt>
          <c:dPt>
            <c:idx val="5"/>
            <c:invertIfNegative val="0"/>
            <c:bubble3D val="0"/>
            <c:spPr>
              <a:solidFill>
                <a:srgbClr val="9ca3af"/>
              </a:solidFill>
              <a:effectLst/>
            </c:spPr>
          </c:dPt>
          <c:cat>
            <c:multiLvlStrRef>
              <c:f>Sheet1!$A$2:$A$7</c:f>
              <c:multiLvlStrCache>
                <c:ptCount val="6"/>
                <c:lvl>
                  <c:pt idx="0">
                    <c:v>offline</c:v>
                  </c:pt>
                  <c:pt idx="1">
                    <c:v>last resort</c:v>
                  </c:pt>
                  <c:pt idx="2">
                    <c:v>isolate</c:v>
                  </c:pt>
                  <c:pt idx="3">
                    <c:v>restrict</c:v>
                  </c:pt>
                  <c:pt idx="4">
                    <c:v>silent</c:v>
                  </c:pt>
                  <c:pt idx="5">
                    <c:v>not read</c:v>
                  </c:pt>
                </c:lvl>
              </c:multiLvlStrCache>
            </c:multiLvlStrRef>
          </c:cat>
          <c:val>
            <c:numRef>
              <c:f>Sheet1!$B$2:$B$7</c:f>
              <c:numCache>
                <c:formatCode>General</c:formatCode>
                <c:ptCount val="6"/>
                <c:pt idx="0">
                  <c:v>2</c:v>
                </c:pt>
                <c:pt idx="1">
                  <c:v>2</c:v>
                </c:pt>
                <c:pt idx="2">
                  <c:v>3</c:v>
                </c:pt>
                <c:pt idx="3">
                  <c:v>1</c:v>
                </c:pt>
                <c:pt idx="4">
                  <c:v>6</c:v>
                </c:pt>
                <c:pt idx="5">
                  <c:v>2</c:v>
                </c:pt>
              </c:numCache>
            </c:numRef>
          </c:val>
        </c:ser>
        <c:dLbls>
          <c:numFmt formatCode="#,##0" sourceLinked="0"/>
          <c:txPr>
            <a:bodyPr/>
            <a:lstStyle/>
            <a:p>
              <a:pPr>
                <a:defRPr b="0" i="0" strike="noStrike" sz="1200" u="none">
                  <a:solidFill>
                    <a:srgbClr val="16202C"/>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334155"/>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date and time first. Everything on these slides is as of 11:34 UTC on 22 October, the latest page the evidence vault saved; the site and the slides will move when the evidence does.
Sources (captured into the evidence vault; each has its page):
https://php.oct.2026.newsroom.sgit.ai/sources/php-net-advisory/index.html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answer first. If the room remembers one slide, it is this one: update and restart; trying is not breaking in; own the offline decision before you need it.
Sources (captured into the evidence vault; each has its page):
https://php.oct.2026.newsroom.sgit.ai/sources/php-net-advisory/index.html
https://php.oct.2026.newsroom.sgit.ai/sources/cisa-alert-php-20261021/index.html
https://php.oct.2026.newsroom.sgit.ai/sources/ncsc-news-php/index.html
https://php.oct.2026.newsroom.sgit.ai/sources/cisa-kev-json/index.html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Press calls the pair php2shell. Two separate bugs, one advisory. The traditional Apache setup is the proven case; other setups are likely but less certain.
Sources (captured into the evidence vault; each has its page):
https://php.oct.2026.newsroom.sgit.ai/sources/cve-cve-2026-109618/index.html
https://php.oct.2026.newsroom.sgit.ai/sources/cve-cve-2026-109619/index.html
https://php.oct.2026.newsroom.sgit.ai/sources/php-net-advisory/index.html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things to stress: AI-assisted research turned an old audit finding into working attacks; and the leak moved the release a day early, so defenders and attackers started the clock together.
Sources (captured into the evidence vault; each has its page):
https://php.oct.2026.newsroom.sgit.ai/sources/php-foundation-blog-security-release/index.html
https://php.oct.2026.newsroom.sgit.ai/sources/calif-php2shell/index.html
https://php.oct.2026.newsroom.sgit.ai/sources/wiz-blog-php2shell/index.html
https://php.oct.2026.newsroom.sgit.ai/sources/php-net-advisory/index.html
https://php.oct.2026.newsroom.sgit.ai/sources/cloudflare-blog-php2shell-waf/index.html
https://php.oct.2026.newsroom.sgit.ai/sources/nsa-x-2112903220209098897/index.html
https://php.oct.2026.newsroom.sgit.ai/sources/bbc-live-ckgel5xp2xv9t/index.html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Attempts are requests, not sites, and not compromises. The ten organisations offline come mostly from one news live page and are not all confirmed by the organisations named.
Sources (captured into the evidence vault; each has its page):
https://php.oct.2026.newsroom.sgit.ai/sources/x-eastdakota-php2shell-stats/index.html
https://php.oct.2026.newsroom.sgit.ai/sources/cisa-kev-json/index.html
https://php.oct.2026.newsroom.sgit.ai/sources/huntress-php2shell-rapid-response/index.html
https://php.oct.2026.newsroom.sgit.ai/sources/rijksoverheid-ncsc-php-news/index.html
https://php.oct.2026.newsroom.sgit.ai/sources/bbc-live-ckgel5xp2xv9t/index.html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for a journalist or a sceptic. Most of what circulates is reported by one party; say which.
Sources (captured into the evidence vault; each has its page):
https://php.oct.2026.newsroom.sgit.ai/sources/php-net-advisory/index.html
https://php.oct.2026.newsroom.sgit.ai/sources/wiz-blog-php2shell/index.html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rung is a different count by a different party. The number that matters, the last one, nobody has measured: what a compromised server could reach.
Sources (captured into the evidence vault; each has its page):
https://php.oct.2026.newsroom.sgit.ai/sources/cloudflare-blog-php2shell-waf/index.html
https://php.oct.2026.newsroom.sgit.ai/sources/thehackernews-php2shell-4days/index.html
https://php.oct.2026.newsroom.sgit.ai/sources/securityweek-exploitation-days-before/index.html
https://php.oct.2026.newsroom.sgit.ai/sources/x-eastdakota-php2shell-stats/index.html
https://php.oct.2026.newsroom.sgit.ai/sources/cisa-kev-json/index.html
https://php.oct.2026.newsroom.sgit.ai/sources/weirdgloop-blog-php2shell/index.html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agencies could not be read (bot challenges) and are counted as not read, not as silent.
Sources (captured into the evidence vault; each has its page):
https://php.oct.2026.newsroom.sgit.ai/sources/cisa-alert-php-20261021/index.html
https://php.oct.2026.newsroom.sgit.ai/sources/ncsc-news-php/index.html
https://php.oct.2026.newsroom.sgit.ai/sources/certeu-sa-2026-018/index.html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long tail is the story of the next weeks: products that bundle PHP, and servers on versions PHP no longer supports.
Sources (captured into the evidence vault; each has its page):
https://php.oct.2026.newsroom.sgit.ai/sources/php-net-advisory/index.html
https://php.oct.2026.newsroom.sgit.ai/sources/github-php-src-tags/index.html
https://php.oct.2026.newsroom.sgit.ai/sources/github-php-src-branch-7.4-backport/index.html
https://php.oct.2026.newsroom.sgit.ai/sources/ncsc-nl-php2shell-software-list/index.html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Stated, not papered over. These are the questions to watch; the site updates each one when the evidence does.
Sources (captured into the evidence vault; each has its page):
https://php.oct.2026.newsroom.sgit.ai/sources/cisa-kev-json/index.html
https://php.oct.2026.newsroom.sgit.ai/sources/openwall-oss-security-109619-thread/index.html
https://php.oct.2026.newsroom.sgit.ai/sources/bbc-live-ckgel5xp2xv9t/index.html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column is a briefing on the site: /briefings/site-owner/, /briefings/engineer/ and /briefings/board/.
Sources (captured into the evidence vault; each has its page):
https://php.oct.2026.newsroom.sgit.ai/sources/php-net-advisory/index.html
https://php.oct.2026.newsroom.sgit.ai/sources/cisa-alert-php-20261021/index.html
https://php.oct.2026.newsroom.sgit.ai/sources/ncsc-news-php/index.html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advice for your own systems: for that, the PHP project's announcement and your national cyber agency.
Sources (captured into the evidence vault; each has its page):
https://php.oct.2026.newsroom.sgit.ai/sources/php-net-advisory/index.html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0B3B3A"/>
        </a:solidFill>
      </p:bgPr>
    </p:bg>
    <p:spTree>
      <p:nvGrpSpPr>
        <p:cNvPr id="1" name=""/>
        <p:cNvGrpSpPr/>
        <p:nvPr/>
      </p:nvGrpSpPr>
      <p:grpSpPr>
        <a:xfrm>
          <a:off x="0" y="0"/>
          <a:ext cx="0" cy="0"/>
          <a:chOff x="0" y="0"/>
          <a:chExt cx="0" cy="0"/>
        </a:xfrm>
      </p:grpSpPr>
      <p:sp>
        <p:nvSpPr>
          <p:cNvPr id="2"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rgbClr val="7FB8B0"/>
                </a:solidFill>
                <a:latin typeface="Calibri" pitchFamily="34" charset="0"/>
                <a:ea typeface="Calibri" pitchFamily="34" charset="-122"/>
                <a:cs typeface="Calibri" pitchFamily="34" charset="-120"/>
              </a:rPr>
              <a:t>PHP October 2026 · briefing of 22 October 2026 · evidence as of 2026-10-22T11:34Z</a:t>
            </a:r>
            <a:endParaRPr lang="en-US" sz="10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B8B0"/>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22960"/>
          </a:xfrm>
          <a:prstGeom prst="rect">
            <a:avLst/>
          </a:prstGeom>
          <a:noFill/>
          <a:ln/>
        </p:spPr>
        <p:txBody>
          <a:bodyPr wrap="square" rtlCol="0"/>
          <a:lstStyle>
            <a:lvl1pPr algn="l" indent="0" marL="0">
              <a:buNone/>
              <a:defRPr lang="en-US" sz="3600" b="1" dirty="0">
                <a:solidFill>
                  <a:srgbClr val="0B3B3A"/>
                </a:solidFill>
                <a:latin typeface="Calibri" pitchFamily="34" charset="0"/>
                <a:ea typeface="Calibri" pitchFamily="34" charset="-122"/>
                <a:cs typeface="Calibri" pitchFamily="34" charset="-120"/>
              </a:defRPr>
            </a:lvl1pPr>
          </a:lstStyle>
          <a:p>
            <a:pPr algn="l" indent="0" marL="0">
              <a:buNone/>
            </a:pPr>
            <a:endParaRPr lang="en-US" sz="36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PHP October 2026 · briefing of 22 October 2026 · evidence as of 2026-10-22T11:34Z</a:t>
            </a:r>
            <a:endParaRPr lang="en-US" sz="10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B8B0"/>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txBox="1"/>
          <p:nvPr/>
        </p:nvSpPr>
        <p:spPr>
          <a:xfrm>
            <a:off x="731520" y="1097280"/>
            <a:ext cx="9144000" cy="365760"/>
          </a:xfrm>
          <a:prstGeom prst="rect">
            <a:avLst/>
          </a:prstGeom>
          <a:noFill/>
          <a:ln/>
        </p:spPr>
        <p:txBody>
          <a:bodyPr wrap="square" lIns="0" tIns="0" rIns="0" bIns="0" rtlCol="0" anchor="ctr"/>
          <a:lstStyle/>
          <a:p>
            <a:pPr indent="0" marL="0">
              <a:buNone/>
            </a:pPr>
            <a:r>
              <a:rPr lang="en-US" sz="1400" spc="300" kern="0" dirty="0">
                <a:solidFill>
                  <a:srgbClr val="7DD3C8"/>
                </a:solidFill>
                <a:latin typeface="Calibri" pitchFamily="34" charset="0"/>
                <a:ea typeface="Calibri" pitchFamily="34" charset="-122"/>
                <a:cs typeface="Calibri" pitchFamily="34" charset="-120"/>
              </a:rPr>
              <a:t>PHP OCTOBER 2026 · BRIEFING</a:t>
            </a:r>
            <a:endParaRPr lang="en-US" sz="1400" dirty="0"/>
          </a:p>
        </p:txBody>
      </p:sp>
      <p:sp>
        <p:nvSpPr>
          <p:cNvPr id="4" name="Text 1"/>
          <p:cNvSpPr txBox="1"/>
          <p:nvPr/>
        </p:nvSpPr>
        <p:spPr>
          <a:xfrm>
            <a:off x="731520" y="1554480"/>
            <a:ext cx="11094415" cy="1188720"/>
          </a:xfrm>
          <a:prstGeom prst="rect">
            <a:avLst/>
          </a:prstGeom>
          <a:noFill/>
          <a:ln/>
        </p:spPr>
        <p:txBody>
          <a:bodyPr wrap="square" lIns="0" tIns="0" rIns="0" bIns="0" rtlCol="0" anchor="ctr"/>
          <a:lstStyle/>
          <a:p>
            <a:pPr indent="0" marL="0">
              <a:buNone/>
            </a:pPr>
            <a:r>
              <a:rPr lang="en-US" sz="5400" b="1" dirty="0">
                <a:solidFill>
                  <a:srgbClr val="FFFFFF"/>
                </a:solidFill>
                <a:latin typeface="Calibri" pitchFamily="34" charset="0"/>
                <a:ea typeface="Calibri" pitchFamily="34" charset="-122"/>
                <a:cs typeface="Calibri" pitchFamily="34" charset="-120"/>
              </a:rPr>
              <a:t>PHP October 2026</a:t>
            </a:r>
            <a:endParaRPr lang="en-US" sz="5400" dirty="0"/>
          </a:p>
        </p:txBody>
      </p:sp>
      <p:sp>
        <p:nvSpPr>
          <p:cNvPr id="5" name="Text 2"/>
          <p:cNvSpPr txBox="1"/>
          <p:nvPr/>
        </p:nvSpPr>
        <p:spPr>
          <a:xfrm>
            <a:off x="731520" y="2788920"/>
            <a:ext cx="9144000" cy="1005840"/>
          </a:xfrm>
          <a:prstGeom prst="rect">
            <a:avLst/>
          </a:prstGeom>
          <a:noFill/>
          <a:ln/>
        </p:spPr>
        <p:txBody>
          <a:bodyPr wrap="square" lIns="0" tIns="0" rIns="0" bIns="0" rtlCol="0" anchor="t"/>
          <a:lstStyle/>
          <a:p>
            <a:pPr indent="0" marL="0">
              <a:buNone/>
            </a:pPr>
            <a:r>
              <a:rPr lang="en-US" sz="2200" dirty="0">
                <a:solidFill>
                  <a:srgbClr val="CDE7E3"/>
                </a:solidFill>
                <a:latin typeface="Calibri" pitchFamily="34" charset="0"/>
                <a:ea typeface="Calibri" pitchFamily="34" charset="-122"/>
                <a:cs typeface="Calibri" pitchFamily="34" charset="-120"/>
              </a:rPr>
              <a:t>Two critical security flaws in PHP, the software behind many of the world's websites. The briefing, dated.</a:t>
            </a:r>
            <a:endParaRPr lang="en-US" sz="2200" dirty="0"/>
          </a:p>
        </p:txBody>
      </p:sp>
      <p:sp>
        <p:nvSpPr>
          <p:cNvPr id="6" name="Text 3"/>
          <p:cNvSpPr txBox="1"/>
          <p:nvPr/>
        </p:nvSpPr>
        <p:spPr>
          <a:xfrm>
            <a:off x="731520" y="4023360"/>
            <a:ext cx="10728655" cy="640080"/>
          </a:xfrm>
          <a:prstGeom prst="rect">
            <a:avLst/>
          </a:prstGeom>
          <a:noFill/>
          <a:ln/>
        </p:spPr>
        <p:txBody>
          <a:bodyPr wrap="square" lIns="0" tIns="0" rIns="0" bIns="0" rtlCol="0" anchor="t"/>
          <a:lstStyle/>
          <a:p>
            <a:pPr indent="0" marL="0">
              <a:buNone/>
            </a:pPr>
            <a:r>
              <a:rPr lang="en-US" sz="1500" dirty="0">
                <a:solidFill>
                  <a:srgbClr val="A7D4CD"/>
                </a:solidFill>
                <a:latin typeface="Calibri" pitchFamily="34" charset="0"/>
                <a:ea typeface="Calibri" pitchFamily="34" charset="-122"/>
                <a:cs typeface="Calibri" pitchFamily="34" charset="-120"/>
              </a:rPr>
              <a:t>Thursday 22 October 2026 · evidence as of 11:34 UTC · vault commit 200d08971937 · site v0.5.2</a:t>
            </a:r>
            <a:endParaRPr lang="en-US" sz="15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B8B0"/>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0"/>
          <p:cNvSpPr/>
          <p:nvPr>
            <p:ph idx="100" type="title" hasCustomPrompt="1"/>
          </p:nvPr>
        </p:nvSpPr>
        <p:spPr>
          <a:xfrm>
            <a:off x="548640" y="365760"/>
            <a:ext cx="11094415" cy="822960"/>
          </a:xfrm>
          <a:prstGeom prst="rect">
            <a:avLst/>
          </a:prstGeom>
          <a:noFill/>
          <a:ln/>
        </p:spPr>
        <p:txBody>
          <a:bodyPr wrap="square" lIns="0" tIns="0" rIns="0" bIns="0" rtlCol="0" anchor="t"/>
          <a:lstStyle/>
          <a:p>
            <a:pPr algn="l" indent="0" marL="0">
              <a:buNone/>
            </a:pPr>
            <a:r>
              <a:rPr lang="en-US" sz="3600" b="1" dirty="0">
                <a:solidFill>
                  <a:srgbClr val="0B3B3A"/>
                </a:solidFill>
                <a:latin typeface="Calibri" pitchFamily="34" charset="0"/>
                <a:ea typeface="Calibri" pitchFamily="34" charset="-122"/>
                <a:cs typeface="Calibri" pitchFamily="34" charset="-120"/>
              </a:rPr>
              <a:t>The bottom line</a:t>
            </a:r>
            <a:endParaRPr lang="en-US" sz="3600" dirty="0"/>
          </a:p>
        </p:txBody>
      </p:sp>
      <p:sp>
        <p:nvSpPr>
          <p:cNvPr id="4" name="card-1"/>
          <p:cNvSpPr/>
          <p:nvPr/>
        </p:nvSpPr>
        <p:spPr>
          <a:xfrm>
            <a:off x="548640" y="1371600"/>
            <a:ext cx="3515258" cy="4480560"/>
          </a:xfrm>
          <a:prstGeom prst="roundRect">
            <a:avLst>
              <a:gd name="adj" fmla="val 3121"/>
            </a:avLst>
          </a:prstGeom>
          <a:solidFill>
            <a:srgbClr val="EEF6F5"/>
          </a:solidFill>
          <a:ln w="12700">
            <a:solidFill>
              <a:srgbClr val="EEF6F5"/>
            </a:solidFill>
            <a:prstDash val="solid"/>
          </a:ln>
        </p:spPr>
      </p:sp>
      <p:sp>
        <p:nvSpPr>
          <p:cNvPr id="5" name="Text 2"/>
          <p:cNvSpPr txBox="1"/>
          <p:nvPr/>
        </p:nvSpPr>
        <p:spPr>
          <a:xfrm>
            <a:off x="868680" y="1600200"/>
            <a:ext cx="914400" cy="822960"/>
          </a:xfrm>
          <a:prstGeom prst="rect">
            <a:avLst/>
          </a:prstGeom>
          <a:noFill/>
          <a:ln/>
        </p:spPr>
        <p:txBody>
          <a:bodyPr wrap="square" lIns="0" tIns="0" rIns="0" bIns="0" rtlCol="0" anchor="ctr"/>
          <a:lstStyle/>
          <a:p>
            <a:pPr indent="0" marL="0">
              <a:buNone/>
            </a:pPr>
            <a:r>
              <a:rPr lang="en-US" sz="5400" b="1" dirty="0">
                <a:solidFill>
                  <a:srgbClr val="0F766E"/>
                </a:solidFill>
                <a:latin typeface="Calibri" pitchFamily="34" charset="0"/>
                <a:ea typeface="Calibri" pitchFamily="34" charset="-122"/>
                <a:cs typeface="Calibri" pitchFamily="34" charset="-120"/>
              </a:rPr>
              <a:t>1</a:t>
            </a:r>
            <a:endParaRPr lang="en-US" sz="5400" dirty="0"/>
          </a:p>
        </p:txBody>
      </p:sp>
      <p:sp>
        <p:nvSpPr>
          <p:cNvPr id="6" name="Text 3"/>
          <p:cNvSpPr txBox="1"/>
          <p:nvPr/>
        </p:nvSpPr>
        <p:spPr>
          <a:xfrm>
            <a:off x="868680" y="2514600"/>
            <a:ext cx="2875178" cy="822960"/>
          </a:xfrm>
          <a:prstGeom prst="rect">
            <a:avLst/>
          </a:prstGeom>
          <a:noFill/>
          <a:ln/>
        </p:spPr>
        <p:txBody>
          <a:bodyPr wrap="square" lIns="0" tIns="0" rIns="0" bIns="0" rtlCol="0" anchor="t"/>
          <a:lstStyle/>
          <a:p>
            <a:pPr indent="0" marL="0">
              <a:buNone/>
            </a:pPr>
            <a:r>
              <a:rPr lang="en-US" sz="2400" b="1" dirty="0">
                <a:solidFill>
                  <a:srgbClr val="0B3B3A"/>
                </a:solidFill>
                <a:latin typeface="Calibri" pitchFamily="34" charset="0"/>
                <a:ea typeface="Calibri" pitchFamily="34" charset="-122"/>
                <a:cs typeface="Calibri" pitchFamily="34" charset="-120"/>
              </a:rPr>
              <a:t>Fix it</a:t>
            </a:r>
            <a:endParaRPr lang="en-US" sz="2400" dirty="0"/>
          </a:p>
        </p:txBody>
      </p:sp>
      <p:sp>
        <p:nvSpPr>
          <p:cNvPr id="7" name="Text 4"/>
          <p:cNvSpPr txBox="1"/>
          <p:nvPr/>
        </p:nvSpPr>
        <p:spPr>
          <a:xfrm>
            <a:off x="868680" y="3383280"/>
            <a:ext cx="2875178" cy="1828800"/>
          </a:xfrm>
          <a:prstGeom prst="rect">
            <a:avLst/>
          </a:prstGeom>
          <a:noFill/>
          <a:ln/>
        </p:spPr>
        <p:txBody>
          <a:bodyPr wrap="square" lIns="0" tIns="0" rIns="0" bIns="0" rtlCol="0" anchor="t"/>
          <a:lstStyle/>
          <a:p>
            <a:pPr indent="0" marL="0">
              <a:buNone/>
            </a:pPr>
            <a:r>
              <a:rPr lang="en-US" sz="1700" dirty="0">
                <a:solidFill>
                  <a:srgbClr val="16202C"/>
                </a:solidFill>
                <a:latin typeface="Calibri" pitchFamily="34" charset="0"/>
                <a:ea typeface="Calibri" pitchFamily="34" charset="-122"/>
                <a:cs typeface="Calibri" pitchFamily="34" charset="-120"/>
              </a:rPr>
              <a:t>Update PHP to 8.5.12, 8.4.27, 8.3.36 or 8.2.35, and restart it. Installed is not running.</a:t>
            </a:r>
            <a:endParaRPr lang="en-US" sz="1700" dirty="0"/>
          </a:p>
        </p:txBody>
      </p:sp>
      <p:sp>
        <p:nvSpPr>
          <p:cNvPr id="8" name="Text 5"/>
          <p:cNvSpPr txBox="1"/>
          <p:nvPr/>
        </p:nvSpPr>
        <p:spPr>
          <a:xfrm>
            <a:off x="868680" y="5349240"/>
            <a:ext cx="1234440" cy="256032"/>
          </a:xfrm>
          <a:prstGeom prst="roundRect">
            <a:avLst>
              <a:gd name="adj" fmla="val 21429"/>
            </a:avLst>
          </a:prstGeom>
          <a:solidFill>
            <a:srgbClr val="DCFCE7"/>
          </a:solidFill>
          <a:ln/>
        </p:spPr>
        <p:txBody>
          <a:bodyPr wrap="square" lIns="0" tIns="0" rIns="0" bIns="0" rtlCol="0" anchor="ctr"/>
          <a:lstStyle/>
          <a:p>
            <a:pPr algn="ctr" indent="0" marL="0">
              <a:buNone/>
            </a:pPr>
            <a:r>
              <a:rPr lang="en-US" sz="1000" b="1" spc="100" kern="0" dirty="0">
                <a:solidFill>
                  <a:srgbClr val="15803D"/>
                </a:solidFill>
                <a:latin typeface="Calibri" pitchFamily="34" charset="0"/>
                <a:ea typeface="Calibri" pitchFamily="34" charset="-122"/>
                <a:cs typeface="Calibri" pitchFamily="34" charset="-120"/>
              </a:rPr>
              <a:t>CONFIRMED</a:t>
            </a:r>
            <a:endParaRPr lang="en-US" sz="1000" dirty="0"/>
          </a:p>
        </p:txBody>
      </p:sp>
      <p:sp>
        <p:nvSpPr>
          <p:cNvPr id="9" name="card-2"/>
          <p:cNvSpPr/>
          <p:nvPr/>
        </p:nvSpPr>
        <p:spPr>
          <a:xfrm>
            <a:off x="4338218" y="1371600"/>
            <a:ext cx="3515258" cy="4480560"/>
          </a:xfrm>
          <a:prstGeom prst="roundRect">
            <a:avLst>
              <a:gd name="adj" fmla="val 3121"/>
            </a:avLst>
          </a:prstGeom>
          <a:solidFill>
            <a:srgbClr val="EEF6F5"/>
          </a:solidFill>
          <a:ln w="12700">
            <a:solidFill>
              <a:srgbClr val="EEF6F5"/>
            </a:solidFill>
            <a:prstDash val="solid"/>
          </a:ln>
        </p:spPr>
      </p:sp>
      <p:sp>
        <p:nvSpPr>
          <p:cNvPr id="10" name="Text 7"/>
          <p:cNvSpPr txBox="1"/>
          <p:nvPr/>
        </p:nvSpPr>
        <p:spPr>
          <a:xfrm>
            <a:off x="4658258" y="1600200"/>
            <a:ext cx="914400" cy="822960"/>
          </a:xfrm>
          <a:prstGeom prst="rect">
            <a:avLst/>
          </a:prstGeom>
          <a:noFill/>
          <a:ln/>
        </p:spPr>
        <p:txBody>
          <a:bodyPr wrap="square" lIns="0" tIns="0" rIns="0" bIns="0" rtlCol="0" anchor="ctr"/>
          <a:lstStyle/>
          <a:p>
            <a:pPr indent="0" marL="0">
              <a:buNone/>
            </a:pPr>
            <a:r>
              <a:rPr lang="en-US" sz="5400" b="1" dirty="0">
                <a:solidFill>
                  <a:srgbClr val="0F766E"/>
                </a:solidFill>
                <a:latin typeface="Calibri" pitchFamily="34" charset="0"/>
                <a:ea typeface="Calibri" pitchFamily="34" charset="-122"/>
                <a:cs typeface="Calibri" pitchFamily="34" charset="-120"/>
              </a:rPr>
              <a:t>2</a:t>
            </a:r>
            <a:endParaRPr lang="en-US" sz="5400" dirty="0"/>
          </a:p>
        </p:txBody>
      </p:sp>
      <p:sp>
        <p:nvSpPr>
          <p:cNvPr id="11" name="Text 8"/>
          <p:cNvSpPr txBox="1"/>
          <p:nvPr/>
        </p:nvSpPr>
        <p:spPr>
          <a:xfrm>
            <a:off x="4658258" y="2514600"/>
            <a:ext cx="2875178" cy="822960"/>
          </a:xfrm>
          <a:prstGeom prst="rect">
            <a:avLst/>
          </a:prstGeom>
          <a:noFill/>
          <a:ln/>
        </p:spPr>
        <p:txBody>
          <a:bodyPr wrap="square" lIns="0" tIns="0" rIns="0" bIns="0" rtlCol="0" anchor="t"/>
          <a:lstStyle/>
          <a:p>
            <a:pPr indent="0" marL="0">
              <a:buNone/>
            </a:pPr>
            <a:r>
              <a:rPr lang="en-US" sz="2400" b="1" dirty="0">
                <a:solidFill>
                  <a:srgbClr val="0B3B3A"/>
                </a:solidFill>
                <a:latin typeface="Calibri" pitchFamily="34" charset="0"/>
                <a:ea typeface="Calibri" pitchFamily="34" charset="-122"/>
                <a:cs typeface="Calibri" pitchFamily="34" charset="-120"/>
              </a:rPr>
              <a:t>No panic, no complacency</a:t>
            </a:r>
            <a:endParaRPr lang="en-US" sz="2400" dirty="0"/>
          </a:p>
        </p:txBody>
      </p:sp>
      <p:sp>
        <p:nvSpPr>
          <p:cNvPr id="12" name="Text 9"/>
          <p:cNvSpPr txBox="1"/>
          <p:nvPr/>
        </p:nvSpPr>
        <p:spPr>
          <a:xfrm>
            <a:off x="4658258" y="3383280"/>
            <a:ext cx="2875178" cy="1828800"/>
          </a:xfrm>
          <a:prstGeom prst="rect">
            <a:avLst/>
          </a:prstGeom>
          <a:noFill/>
          <a:ln/>
        </p:spPr>
        <p:txBody>
          <a:bodyPr wrap="square" lIns="0" tIns="0" rIns="0" bIns="0" rtlCol="0" anchor="t"/>
          <a:lstStyle/>
          <a:p>
            <a:pPr indent="0" marL="0">
              <a:buNone/>
            </a:pPr>
            <a:r>
              <a:rPr lang="en-US" sz="1700" dirty="0">
                <a:solidFill>
                  <a:srgbClr val="16202C"/>
                </a:solidFill>
                <a:latin typeface="Calibri" pitchFamily="34" charset="0"/>
                <a:ea typeface="Calibri" pitchFamily="34" charset="-122"/>
                <a:cs typeface="Calibri" pitchFamily="34" charset="-120"/>
              </a:rPr>
              <a:t>Attackers are trying in large numbers; no organisation has confirmed a break-in.</a:t>
            </a:r>
            <a:endParaRPr lang="en-US" sz="1700" dirty="0"/>
          </a:p>
        </p:txBody>
      </p:sp>
      <p:sp>
        <p:nvSpPr>
          <p:cNvPr id="13" name="Text 10"/>
          <p:cNvSpPr txBox="1"/>
          <p:nvPr/>
        </p:nvSpPr>
        <p:spPr>
          <a:xfrm>
            <a:off x="4658258" y="5349240"/>
            <a:ext cx="1234440" cy="256032"/>
          </a:xfrm>
          <a:prstGeom prst="roundRect">
            <a:avLst>
              <a:gd name="adj" fmla="val 21429"/>
            </a:avLst>
          </a:prstGeom>
          <a:solidFill>
            <a:srgbClr val="DBEAFE"/>
          </a:solidFill>
          <a:ln/>
        </p:spPr>
        <p:txBody>
          <a:bodyPr wrap="square" lIns="0" tIns="0" rIns="0" bIns="0" rtlCol="0" anchor="ctr"/>
          <a:lstStyle/>
          <a:p>
            <a:pPr algn="ctr" indent="0" marL="0">
              <a:buNone/>
            </a:pPr>
            <a:r>
              <a:rPr lang="en-US" sz="1000" b="1" spc="100" kern="0" dirty="0">
                <a:solidFill>
                  <a:srgbClr val="1D4ED8"/>
                </a:solidFill>
                <a:latin typeface="Calibri" pitchFamily="34" charset="0"/>
                <a:ea typeface="Calibri" pitchFamily="34" charset="-122"/>
                <a:cs typeface="Calibri" pitchFamily="34" charset="-120"/>
              </a:rPr>
              <a:t>REPORTED</a:t>
            </a:r>
            <a:endParaRPr lang="en-US" sz="1000" dirty="0"/>
          </a:p>
        </p:txBody>
      </p:sp>
      <p:sp>
        <p:nvSpPr>
          <p:cNvPr id="14" name="card-3"/>
          <p:cNvSpPr/>
          <p:nvPr/>
        </p:nvSpPr>
        <p:spPr>
          <a:xfrm>
            <a:off x="8127797" y="1371600"/>
            <a:ext cx="3515258" cy="4480560"/>
          </a:xfrm>
          <a:prstGeom prst="roundRect">
            <a:avLst>
              <a:gd name="adj" fmla="val 3121"/>
            </a:avLst>
          </a:prstGeom>
          <a:solidFill>
            <a:srgbClr val="EEF6F5"/>
          </a:solidFill>
          <a:ln w="12700">
            <a:solidFill>
              <a:srgbClr val="EEF6F5"/>
            </a:solidFill>
            <a:prstDash val="solid"/>
          </a:ln>
        </p:spPr>
      </p:sp>
      <p:sp>
        <p:nvSpPr>
          <p:cNvPr id="15" name="Text 12"/>
          <p:cNvSpPr txBox="1"/>
          <p:nvPr/>
        </p:nvSpPr>
        <p:spPr>
          <a:xfrm>
            <a:off x="8447837" y="1600200"/>
            <a:ext cx="914400" cy="822960"/>
          </a:xfrm>
          <a:prstGeom prst="rect">
            <a:avLst/>
          </a:prstGeom>
          <a:noFill/>
          <a:ln/>
        </p:spPr>
        <p:txBody>
          <a:bodyPr wrap="square" lIns="0" tIns="0" rIns="0" bIns="0" rtlCol="0" anchor="ctr"/>
          <a:lstStyle/>
          <a:p>
            <a:pPr indent="0" marL="0">
              <a:buNone/>
            </a:pPr>
            <a:r>
              <a:rPr lang="en-US" sz="5400" b="1" dirty="0">
                <a:solidFill>
                  <a:srgbClr val="0F766E"/>
                </a:solidFill>
                <a:latin typeface="Calibri" pitchFamily="34" charset="0"/>
                <a:ea typeface="Calibri" pitchFamily="34" charset="-122"/>
                <a:cs typeface="Calibri" pitchFamily="34" charset="-120"/>
              </a:rPr>
              <a:t>3</a:t>
            </a:r>
            <a:endParaRPr lang="en-US" sz="5400" dirty="0"/>
          </a:p>
        </p:txBody>
      </p:sp>
      <p:sp>
        <p:nvSpPr>
          <p:cNvPr id="16" name="Text 13"/>
          <p:cNvSpPr txBox="1"/>
          <p:nvPr/>
        </p:nvSpPr>
        <p:spPr>
          <a:xfrm>
            <a:off x="8447837" y="2514600"/>
            <a:ext cx="2875178" cy="822960"/>
          </a:xfrm>
          <a:prstGeom prst="rect">
            <a:avLst/>
          </a:prstGeom>
          <a:noFill/>
          <a:ln/>
        </p:spPr>
        <p:txBody>
          <a:bodyPr wrap="square" lIns="0" tIns="0" rIns="0" bIns="0" rtlCol="0" anchor="t"/>
          <a:lstStyle/>
          <a:p>
            <a:pPr indent="0" marL="0">
              <a:buNone/>
            </a:pPr>
            <a:r>
              <a:rPr lang="en-US" sz="2400" b="1" dirty="0">
                <a:solidFill>
                  <a:srgbClr val="0B3B3A"/>
                </a:solidFill>
                <a:latin typeface="Calibri" pitchFamily="34" charset="0"/>
                <a:ea typeface="Calibri" pitchFamily="34" charset="-122"/>
                <a:cs typeface="Calibri" pitchFamily="34" charset="-120"/>
              </a:rPr>
              <a:t>Decide offline now</a:t>
            </a:r>
            <a:endParaRPr lang="en-US" sz="2400" dirty="0"/>
          </a:p>
        </p:txBody>
      </p:sp>
      <p:sp>
        <p:nvSpPr>
          <p:cNvPr id="17" name="Text 14"/>
          <p:cNvSpPr txBox="1"/>
          <p:nvPr/>
        </p:nvSpPr>
        <p:spPr>
          <a:xfrm>
            <a:off x="8447837" y="3383280"/>
            <a:ext cx="2875178" cy="1828800"/>
          </a:xfrm>
          <a:prstGeom prst="rect">
            <a:avLst/>
          </a:prstGeom>
          <a:noFill/>
          <a:ln/>
        </p:spPr>
        <p:txBody>
          <a:bodyPr wrap="square" lIns="0" tIns="0" rIns="0" bIns="0" rtlCol="0" anchor="t"/>
          <a:lstStyle/>
          <a:p>
            <a:pPr indent="0" marL="0">
              <a:buNone/>
            </a:pPr>
            <a:r>
              <a:rPr lang="en-US" sz="1700" dirty="0">
                <a:solidFill>
                  <a:srgbClr val="16202C"/>
                </a:solidFill>
                <a:latin typeface="Calibri" pitchFamily="34" charset="0"/>
                <a:ea typeface="Calibri" pitchFamily="34" charset="-122"/>
                <a:cs typeface="Calibri" pitchFamily="34" charset="-120"/>
              </a:rPr>
              <a:t>If a system cannot be patched today, name who can take it offline, and when. The agencies disagree, so the decision is yours.</a:t>
            </a:r>
            <a:endParaRPr lang="en-US" sz="1700" dirty="0"/>
          </a:p>
        </p:txBody>
      </p:sp>
      <p:sp>
        <p:nvSpPr>
          <p:cNvPr id="18" name="Text 15"/>
          <p:cNvSpPr txBox="1"/>
          <p:nvPr/>
        </p:nvSpPr>
        <p:spPr>
          <a:xfrm>
            <a:off x="8447837" y="5349240"/>
            <a:ext cx="1234440" cy="256032"/>
          </a:xfrm>
          <a:prstGeom prst="roundRect">
            <a:avLst>
              <a:gd name="adj" fmla="val 21429"/>
            </a:avLst>
          </a:prstGeom>
          <a:solidFill>
            <a:srgbClr val="DCFCE7"/>
          </a:solidFill>
          <a:ln/>
        </p:spPr>
        <p:txBody>
          <a:bodyPr wrap="square" lIns="0" tIns="0" rIns="0" bIns="0" rtlCol="0" anchor="ctr"/>
          <a:lstStyle/>
          <a:p>
            <a:pPr algn="ctr" indent="0" marL="0">
              <a:buNone/>
            </a:pPr>
            <a:r>
              <a:rPr lang="en-US" sz="1000" b="1" spc="100" kern="0" dirty="0">
                <a:solidFill>
                  <a:srgbClr val="15803D"/>
                </a:solidFill>
                <a:latin typeface="Calibri" pitchFamily="34" charset="0"/>
                <a:ea typeface="Calibri" pitchFamily="34" charset="-122"/>
                <a:cs typeface="Calibri" pitchFamily="34" charset="-120"/>
              </a:rPr>
              <a:t>CONFIRMED</a:t>
            </a:r>
            <a:endParaRPr lang="en-US" sz="10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0"/>
          <p:cNvSpPr/>
          <p:nvPr>
            <p:ph idx="100" type="title" hasCustomPrompt="1"/>
          </p:nvPr>
        </p:nvSpPr>
        <p:spPr>
          <a:xfrm>
            <a:off x="548640" y="365760"/>
            <a:ext cx="11094415" cy="822960"/>
          </a:xfrm>
          <a:prstGeom prst="rect">
            <a:avLst/>
          </a:prstGeom>
          <a:noFill/>
          <a:ln/>
        </p:spPr>
        <p:txBody>
          <a:bodyPr wrap="square" lIns="0" tIns="0" rIns="0" bIns="0" rtlCol="0" anchor="t"/>
          <a:lstStyle/>
          <a:p>
            <a:pPr algn="l" indent="0" marL="0">
              <a:buNone/>
            </a:pPr>
            <a:r>
              <a:rPr lang="en-US" sz="3600" b="1" dirty="0">
                <a:solidFill>
                  <a:srgbClr val="0B3B3A"/>
                </a:solidFill>
                <a:latin typeface="Calibri" pitchFamily="34" charset="0"/>
                <a:ea typeface="Calibri" pitchFamily="34" charset="-122"/>
                <a:cs typeface="Calibri" pitchFamily="34" charset="-120"/>
              </a:rPr>
              <a:t>What it is</a:t>
            </a:r>
            <a:endParaRPr lang="en-US" sz="3600" dirty="0"/>
          </a:p>
        </p:txBody>
      </p:sp>
      <p:sp>
        <p:nvSpPr>
          <p:cNvPr id="4" name="stat-1"/>
          <p:cNvSpPr/>
          <p:nvPr/>
        </p:nvSpPr>
        <p:spPr>
          <a:xfrm>
            <a:off x="548640" y="1234440"/>
            <a:ext cx="2567864" cy="2057400"/>
          </a:xfrm>
          <a:prstGeom prst="roundRect">
            <a:avLst>
              <a:gd name="adj" fmla="val 4444"/>
            </a:avLst>
          </a:prstGeom>
          <a:solidFill>
            <a:srgbClr val="F1F5F9"/>
          </a:solidFill>
          <a:ln w="12700">
            <a:solidFill>
              <a:srgbClr val="F1F5F9"/>
            </a:solidFill>
            <a:prstDash val="solid"/>
          </a:ln>
        </p:spPr>
      </p:sp>
      <p:sp>
        <p:nvSpPr>
          <p:cNvPr id="5" name="Text 2"/>
          <p:cNvSpPr txBox="1"/>
          <p:nvPr/>
        </p:nvSpPr>
        <p:spPr>
          <a:xfrm>
            <a:off x="777240" y="1371600"/>
            <a:ext cx="2110664" cy="777240"/>
          </a:xfrm>
          <a:prstGeom prst="rect">
            <a:avLst/>
          </a:prstGeom>
          <a:noFill/>
          <a:ln/>
        </p:spPr>
        <p:txBody>
          <a:bodyPr wrap="square" lIns="0" tIns="0" rIns="0" bIns="0" rtlCol="0" anchor="ctr"/>
          <a:lstStyle/>
          <a:p>
            <a:pPr indent="0" marL="0">
              <a:buNone/>
            </a:pPr>
            <a:r>
              <a:rPr lang="en-US" sz="4800" b="1" dirty="0">
                <a:solidFill>
                  <a:srgbClr val="0F766E"/>
                </a:solidFill>
                <a:latin typeface="Calibri" pitchFamily="34" charset="0"/>
                <a:ea typeface="Calibri" pitchFamily="34" charset="-122"/>
                <a:cs typeface="Calibri" pitchFamily="34" charset="-120"/>
              </a:rPr>
              <a:t>2</a:t>
            </a:r>
            <a:endParaRPr lang="en-US" sz="4800" dirty="0"/>
          </a:p>
        </p:txBody>
      </p:sp>
      <p:sp>
        <p:nvSpPr>
          <p:cNvPr id="6" name="Text 3"/>
          <p:cNvSpPr txBox="1"/>
          <p:nvPr/>
        </p:nvSpPr>
        <p:spPr>
          <a:xfrm>
            <a:off x="777240" y="2148840"/>
            <a:ext cx="2110664" cy="365760"/>
          </a:xfrm>
          <a:prstGeom prst="rect">
            <a:avLst/>
          </a:prstGeom>
          <a:noFill/>
          <a:ln/>
        </p:spPr>
        <p:txBody>
          <a:bodyPr wrap="square" lIns="0" tIns="0" rIns="0" bIns="0" rtlCol="0" anchor="ctr"/>
          <a:lstStyle/>
          <a:p>
            <a:pPr indent="0" marL="0">
              <a:buNone/>
            </a:pPr>
            <a:r>
              <a:rPr lang="en-US" sz="1500" b="1" dirty="0">
                <a:solidFill>
                  <a:srgbClr val="16202C"/>
                </a:solidFill>
                <a:latin typeface="Calibri" pitchFamily="34" charset="0"/>
                <a:ea typeface="Calibri" pitchFamily="34" charset="-122"/>
                <a:cs typeface="Calibri" pitchFamily="34" charset="-120"/>
              </a:rPr>
              <a:t>flaws in PHP itself</a:t>
            </a:r>
            <a:endParaRPr lang="en-US" sz="1500" dirty="0"/>
          </a:p>
        </p:txBody>
      </p:sp>
      <p:sp>
        <p:nvSpPr>
          <p:cNvPr id="7" name="Text 4"/>
          <p:cNvSpPr txBox="1"/>
          <p:nvPr/>
        </p:nvSpPr>
        <p:spPr>
          <a:xfrm>
            <a:off x="777240" y="2496312"/>
            <a:ext cx="2110664" cy="292608"/>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CVE-2026-109618 and CVE-2026-109619</a:t>
            </a:r>
            <a:endParaRPr lang="en-US" sz="1100" dirty="0"/>
          </a:p>
        </p:txBody>
      </p:sp>
      <p:sp>
        <p:nvSpPr>
          <p:cNvPr id="8" name="stat-2"/>
          <p:cNvSpPr/>
          <p:nvPr/>
        </p:nvSpPr>
        <p:spPr>
          <a:xfrm>
            <a:off x="3390824" y="1234440"/>
            <a:ext cx="2567864" cy="2057400"/>
          </a:xfrm>
          <a:prstGeom prst="roundRect">
            <a:avLst>
              <a:gd name="adj" fmla="val 4444"/>
            </a:avLst>
          </a:prstGeom>
          <a:solidFill>
            <a:srgbClr val="F1F5F9"/>
          </a:solidFill>
          <a:ln w="12700">
            <a:solidFill>
              <a:srgbClr val="F1F5F9"/>
            </a:solidFill>
            <a:prstDash val="solid"/>
          </a:ln>
        </p:spPr>
      </p:sp>
      <p:sp>
        <p:nvSpPr>
          <p:cNvPr id="9" name="Text 6"/>
          <p:cNvSpPr txBox="1"/>
          <p:nvPr/>
        </p:nvSpPr>
        <p:spPr>
          <a:xfrm>
            <a:off x="3619424" y="1371600"/>
            <a:ext cx="2110664" cy="777240"/>
          </a:xfrm>
          <a:prstGeom prst="rect">
            <a:avLst/>
          </a:prstGeom>
          <a:noFill/>
          <a:ln/>
        </p:spPr>
        <p:txBody>
          <a:bodyPr wrap="square" lIns="0" tIns="0" rIns="0" bIns="0" rtlCol="0" anchor="ctr"/>
          <a:lstStyle/>
          <a:p>
            <a:pPr indent="0" marL="0">
              <a:buNone/>
            </a:pPr>
            <a:r>
              <a:rPr lang="en-US" sz="4800" b="1" dirty="0">
                <a:solidFill>
                  <a:srgbClr val="0F766E"/>
                </a:solidFill>
                <a:latin typeface="Calibri" pitchFamily="34" charset="0"/>
                <a:ea typeface="Calibri" pitchFamily="34" charset="-122"/>
                <a:cs typeface="Calibri" pitchFamily="34" charset="-120"/>
              </a:rPr>
              <a:t>9.2</a:t>
            </a:r>
            <a:endParaRPr lang="en-US" sz="4800" dirty="0"/>
          </a:p>
        </p:txBody>
      </p:sp>
      <p:sp>
        <p:nvSpPr>
          <p:cNvPr id="10" name="Text 7"/>
          <p:cNvSpPr txBox="1"/>
          <p:nvPr/>
        </p:nvSpPr>
        <p:spPr>
          <a:xfrm>
            <a:off x="3619424" y="2148840"/>
            <a:ext cx="2110664" cy="365760"/>
          </a:xfrm>
          <a:prstGeom prst="rect">
            <a:avLst/>
          </a:prstGeom>
          <a:noFill/>
          <a:ln/>
        </p:spPr>
        <p:txBody>
          <a:bodyPr wrap="square" lIns="0" tIns="0" rIns="0" bIns="0" rtlCol="0" anchor="ctr"/>
          <a:lstStyle/>
          <a:p>
            <a:pPr indent="0" marL="0">
              <a:buNone/>
            </a:pPr>
            <a:r>
              <a:rPr lang="en-US" sz="1500" b="1" dirty="0">
                <a:solidFill>
                  <a:srgbClr val="16202C"/>
                </a:solidFill>
                <a:latin typeface="Calibri" pitchFamily="34" charset="0"/>
                <a:ea typeface="Calibri" pitchFamily="34" charset="-122"/>
                <a:cs typeface="Calibri" pitchFamily="34" charset="-120"/>
              </a:rPr>
              <a:t>out of 10, both</a:t>
            </a:r>
            <a:endParaRPr lang="en-US" sz="1500" dirty="0"/>
          </a:p>
        </p:txBody>
      </p:sp>
      <p:sp>
        <p:nvSpPr>
          <p:cNvPr id="11" name="Text 8"/>
          <p:cNvSpPr txBox="1"/>
          <p:nvPr/>
        </p:nvSpPr>
        <p:spPr>
          <a:xfrm>
            <a:off x="3619424" y="2496312"/>
            <a:ext cx="2110664" cy="292608"/>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critical, CVSS v4.0</a:t>
            </a:r>
            <a:endParaRPr lang="en-US" sz="1100" dirty="0"/>
          </a:p>
        </p:txBody>
      </p:sp>
      <p:sp>
        <p:nvSpPr>
          <p:cNvPr id="12" name="stat-3"/>
          <p:cNvSpPr/>
          <p:nvPr/>
        </p:nvSpPr>
        <p:spPr>
          <a:xfrm>
            <a:off x="6233008" y="1234440"/>
            <a:ext cx="2567864" cy="2057400"/>
          </a:xfrm>
          <a:prstGeom prst="roundRect">
            <a:avLst>
              <a:gd name="adj" fmla="val 4444"/>
            </a:avLst>
          </a:prstGeom>
          <a:solidFill>
            <a:srgbClr val="F1F5F9"/>
          </a:solidFill>
          <a:ln w="12700">
            <a:solidFill>
              <a:srgbClr val="F1F5F9"/>
            </a:solidFill>
            <a:prstDash val="solid"/>
          </a:ln>
        </p:spPr>
      </p:sp>
      <p:sp>
        <p:nvSpPr>
          <p:cNvPr id="13" name="Text 10"/>
          <p:cNvSpPr txBox="1"/>
          <p:nvPr/>
        </p:nvSpPr>
        <p:spPr>
          <a:xfrm>
            <a:off x="6461608" y="1371600"/>
            <a:ext cx="2110664" cy="777240"/>
          </a:xfrm>
          <a:prstGeom prst="rect">
            <a:avLst/>
          </a:prstGeom>
          <a:noFill/>
          <a:ln/>
        </p:spPr>
        <p:txBody>
          <a:bodyPr wrap="square" lIns="0" tIns="0" rIns="0" bIns="0" rtlCol="0" anchor="ctr"/>
          <a:lstStyle/>
          <a:p>
            <a:pPr indent="0" marL="0">
              <a:buNone/>
            </a:pPr>
            <a:r>
              <a:rPr lang="en-US" sz="4800" b="1" dirty="0">
                <a:solidFill>
                  <a:srgbClr val="0F766E"/>
                </a:solidFill>
                <a:latin typeface="Calibri" pitchFamily="34" charset="0"/>
                <a:ea typeface="Calibri" pitchFamily="34" charset="-122"/>
                <a:cs typeface="Calibri" pitchFamily="34" charset="-120"/>
              </a:rPr>
              <a:t>0</a:t>
            </a:r>
            <a:endParaRPr lang="en-US" sz="4800" dirty="0"/>
          </a:p>
        </p:txBody>
      </p:sp>
      <p:sp>
        <p:nvSpPr>
          <p:cNvPr id="14" name="Text 11"/>
          <p:cNvSpPr txBox="1"/>
          <p:nvPr/>
        </p:nvSpPr>
        <p:spPr>
          <a:xfrm>
            <a:off x="6461608" y="2148840"/>
            <a:ext cx="2110664" cy="365760"/>
          </a:xfrm>
          <a:prstGeom prst="rect">
            <a:avLst/>
          </a:prstGeom>
          <a:noFill/>
          <a:ln/>
        </p:spPr>
        <p:txBody>
          <a:bodyPr wrap="square" lIns="0" tIns="0" rIns="0" bIns="0" rtlCol="0" anchor="ctr"/>
          <a:lstStyle/>
          <a:p>
            <a:pPr indent="0" marL="0">
              <a:buNone/>
            </a:pPr>
            <a:r>
              <a:rPr lang="en-US" sz="1500" b="1" dirty="0">
                <a:solidFill>
                  <a:srgbClr val="16202C"/>
                </a:solidFill>
                <a:latin typeface="Calibri" pitchFamily="34" charset="0"/>
                <a:ea typeface="Calibri" pitchFamily="34" charset="-122"/>
                <a:cs typeface="Calibri" pitchFamily="34" charset="-120"/>
              </a:rPr>
              <a:t>passwords needed</a:t>
            </a:r>
            <a:endParaRPr lang="en-US" sz="1500" dirty="0"/>
          </a:p>
        </p:txBody>
      </p:sp>
      <p:sp>
        <p:nvSpPr>
          <p:cNvPr id="15" name="Text 12"/>
          <p:cNvSpPr txBox="1"/>
          <p:nvPr/>
        </p:nvSpPr>
        <p:spPr>
          <a:xfrm>
            <a:off x="6461608" y="2496312"/>
            <a:ext cx="2110664" cy="292608"/>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from anywhere on the internet</a:t>
            </a:r>
            <a:endParaRPr lang="en-US" sz="1100" dirty="0"/>
          </a:p>
        </p:txBody>
      </p:sp>
      <p:sp>
        <p:nvSpPr>
          <p:cNvPr id="16" name="stat-4"/>
          <p:cNvSpPr/>
          <p:nvPr/>
        </p:nvSpPr>
        <p:spPr>
          <a:xfrm>
            <a:off x="9075191" y="1234440"/>
            <a:ext cx="2567864" cy="2057400"/>
          </a:xfrm>
          <a:prstGeom prst="roundRect">
            <a:avLst>
              <a:gd name="adj" fmla="val 4444"/>
            </a:avLst>
          </a:prstGeom>
          <a:solidFill>
            <a:srgbClr val="F1F5F9"/>
          </a:solidFill>
          <a:ln w="12700">
            <a:solidFill>
              <a:srgbClr val="F1F5F9"/>
            </a:solidFill>
            <a:prstDash val="solid"/>
          </a:ln>
        </p:spPr>
      </p:sp>
      <p:sp>
        <p:nvSpPr>
          <p:cNvPr id="17" name="Text 14"/>
          <p:cNvSpPr txBox="1"/>
          <p:nvPr/>
        </p:nvSpPr>
        <p:spPr>
          <a:xfrm>
            <a:off x="9303791" y="1371600"/>
            <a:ext cx="2110664" cy="777240"/>
          </a:xfrm>
          <a:prstGeom prst="rect">
            <a:avLst/>
          </a:prstGeom>
          <a:noFill/>
          <a:ln/>
        </p:spPr>
        <p:txBody>
          <a:bodyPr wrap="square" lIns="0" tIns="0" rIns="0" bIns="0" rtlCol="0" anchor="ctr"/>
          <a:lstStyle/>
          <a:p>
            <a:pPr indent="0" marL="0">
              <a:buNone/>
            </a:pPr>
            <a:r>
              <a:rPr lang="en-US" sz="4800" b="1" dirty="0">
                <a:solidFill>
                  <a:srgbClr val="0F766E"/>
                </a:solidFill>
                <a:latin typeface="Calibri" pitchFamily="34" charset="0"/>
                <a:ea typeface="Calibri" pitchFamily="34" charset="-122"/>
                <a:cs typeface="Calibri" pitchFamily="34" charset="-120"/>
              </a:rPr>
              <a:t>4</a:t>
            </a:r>
            <a:endParaRPr lang="en-US" sz="4800" dirty="0"/>
          </a:p>
        </p:txBody>
      </p:sp>
      <p:sp>
        <p:nvSpPr>
          <p:cNvPr id="18" name="Text 15"/>
          <p:cNvSpPr txBox="1"/>
          <p:nvPr/>
        </p:nvSpPr>
        <p:spPr>
          <a:xfrm>
            <a:off x="9303791" y="2148840"/>
            <a:ext cx="2110664" cy="365760"/>
          </a:xfrm>
          <a:prstGeom prst="rect">
            <a:avLst/>
          </a:prstGeom>
          <a:noFill/>
          <a:ln/>
        </p:spPr>
        <p:txBody>
          <a:bodyPr wrap="square" lIns="0" tIns="0" rIns="0" bIns="0" rtlCol="0" anchor="ctr"/>
          <a:lstStyle/>
          <a:p>
            <a:pPr indent="0" marL="0">
              <a:buNone/>
            </a:pPr>
            <a:r>
              <a:rPr lang="en-US" sz="1500" b="1" dirty="0">
                <a:solidFill>
                  <a:srgbClr val="16202C"/>
                </a:solidFill>
                <a:latin typeface="Calibri" pitchFamily="34" charset="0"/>
                <a:ea typeface="Calibri" pitchFamily="34" charset="-122"/>
                <a:cs typeface="Calibri" pitchFamily="34" charset="-120"/>
              </a:rPr>
              <a:t>fixed versions</a:t>
            </a:r>
            <a:endParaRPr lang="en-US" sz="1500" dirty="0"/>
          </a:p>
        </p:txBody>
      </p:sp>
      <p:sp>
        <p:nvSpPr>
          <p:cNvPr id="19" name="Text 16"/>
          <p:cNvSpPr txBox="1"/>
          <p:nvPr/>
        </p:nvSpPr>
        <p:spPr>
          <a:xfrm>
            <a:off x="9303791" y="2496312"/>
            <a:ext cx="2110664" cy="292608"/>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released 21 October</a:t>
            </a:r>
            <a:endParaRPr lang="en-US" sz="1100" dirty="0"/>
          </a:p>
        </p:txBody>
      </p:sp>
      <p:sp>
        <p:nvSpPr>
          <p:cNvPr id="20" name="Text 17"/>
          <p:cNvSpPr txBox="1"/>
          <p:nvPr/>
        </p:nvSpPr>
        <p:spPr>
          <a:xfrm>
            <a:off x="548640" y="3611880"/>
            <a:ext cx="11094415" cy="219456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16202C"/>
                </a:solidFill>
                <a:latin typeface="Calibri" pitchFamily="34" charset="0"/>
                <a:ea typeface="Calibri" pitchFamily="34" charset="-122"/>
                <a:cs typeface="Calibri" pitchFamily="34" charset="-120"/>
              </a:rPr>
              <a:t>[confirmed] Someone anywhere on the internet, with no password, can use them against a website that has not installed the fix, and make its server run their own commands.</a:t>
            </a:r>
            <a:endParaRPr lang="en-US" sz="1600" dirty="0"/>
          </a:p>
          <a:p>
            <a:pPr marL="342900" indent="-342900">
              <a:spcAft>
                <a:spcPts val="800"/>
              </a:spcAft>
              <a:buSzPct val="100000"/>
              <a:buChar char="•"/>
            </a:pPr>
            <a:r>
              <a:rPr lang="en-US" sz="1600" dirty="0">
                <a:solidFill>
                  <a:srgbClr val="16202C"/>
                </a:solidFill>
                <a:latin typeface="Calibri" pitchFamily="34" charset="0"/>
                <a:ea typeface="Calibri" pitchFamily="34" charset="-122"/>
                <a:cs typeface="Calibri" pitchFamily="34" charset="-120"/>
              </a:rPr>
              <a:t>[disputed] Proven on Apache mod_php with default settings; on PHP-FPM it is disputed.</a:t>
            </a:r>
            <a:endParaRPr lang="en-US" sz="1600" dirty="0"/>
          </a:p>
          <a:p>
            <a:pPr marL="342900" indent="-342900">
              <a:spcAft>
                <a:spcPts val="800"/>
              </a:spcAft>
              <a:buSzPct val="100000"/>
              <a:buChar char="•"/>
            </a:pPr>
            <a:r>
              <a:rPr lang="en-US" sz="1600" dirty="0">
                <a:solidFill>
                  <a:srgbClr val="16202C"/>
                </a:solidFill>
                <a:latin typeface="Calibri" pitchFamily="34" charset="0"/>
                <a:ea typeface="Calibri" pitchFamily="34" charset="-122"/>
                <a:cs typeface="Calibri" pitchFamily="34" charset="-120"/>
              </a:rPr>
              <a:t>[confirmed] Not your phone or laptop: the flaw is on web servers.</a:t>
            </a:r>
            <a:endParaRPr lang="en-US" sz="16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0"/>
          <p:cNvSpPr/>
          <p:nvPr>
            <p:ph idx="100" type="title" hasCustomPrompt="1"/>
          </p:nvPr>
        </p:nvSpPr>
        <p:spPr>
          <a:xfrm>
            <a:off x="548640" y="365760"/>
            <a:ext cx="11094415" cy="822960"/>
          </a:xfrm>
          <a:prstGeom prst="rect">
            <a:avLst/>
          </a:prstGeom>
          <a:noFill/>
          <a:ln/>
        </p:spPr>
        <p:txBody>
          <a:bodyPr wrap="square" lIns="0" tIns="0" rIns="0" bIns="0" rtlCol="0" anchor="t"/>
          <a:lstStyle/>
          <a:p>
            <a:pPr algn="l" indent="0" marL="0">
              <a:buNone/>
            </a:pPr>
            <a:r>
              <a:rPr lang="en-US" sz="3600" b="1" dirty="0">
                <a:solidFill>
                  <a:srgbClr val="0B3B3A"/>
                </a:solidFill>
                <a:latin typeface="Calibri" pitchFamily="34" charset="0"/>
                <a:ea typeface="Calibri" pitchFamily="34" charset="-122"/>
                <a:cs typeface="Calibri" pitchFamily="34" charset="-120"/>
              </a:rPr>
              <a:t>How it unfolded</a:t>
            </a:r>
            <a:endParaRPr lang="en-US" sz="3600" dirty="0"/>
          </a:p>
        </p:txBody>
      </p:sp>
      <p:sp>
        <p:nvSpPr>
          <p:cNvPr id="4" name="tick-1"/>
          <p:cNvSpPr/>
          <p:nvPr/>
        </p:nvSpPr>
        <p:spPr>
          <a:xfrm>
            <a:off x="548640" y="1463040"/>
            <a:ext cx="1999427" cy="73152"/>
          </a:xfrm>
          <a:prstGeom prst="rect">
            <a:avLst/>
          </a:prstGeom>
          <a:solidFill>
            <a:srgbClr val="0F766E"/>
          </a:solidFill>
          <a:ln w="12700">
            <a:solidFill>
              <a:srgbClr val="0F766E"/>
            </a:solidFill>
            <a:prstDash val="solid"/>
          </a:ln>
        </p:spPr>
      </p:sp>
      <p:sp>
        <p:nvSpPr>
          <p:cNvPr id="5" name="Text 2"/>
          <p:cNvSpPr txBox="1"/>
          <p:nvPr/>
        </p:nvSpPr>
        <p:spPr>
          <a:xfrm>
            <a:off x="548640" y="1645920"/>
            <a:ext cx="1999427" cy="548640"/>
          </a:xfrm>
          <a:prstGeom prst="rect">
            <a:avLst/>
          </a:prstGeom>
          <a:noFill/>
          <a:ln/>
        </p:spPr>
        <p:txBody>
          <a:bodyPr wrap="square" lIns="0" tIns="0" rIns="0" bIns="0" rtlCol="0" anchor="ctr"/>
          <a:lstStyle/>
          <a:p>
            <a:pPr indent="0" marL="0">
              <a:buNone/>
            </a:pPr>
            <a:r>
              <a:rPr lang="en-US" sz="2600" b="1" dirty="0">
                <a:solidFill>
                  <a:srgbClr val="0B3B3A"/>
                </a:solidFill>
                <a:latin typeface="Calibri" pitchFamily="34" charset="0"/>
                <a:ea typeface="Calibri" pitchFamily="34" charset="-122"/>
                <a:cs typeface="Calibri" pitchFamily="34" charset="-120"/>
              </a:rPr>
              <a:t>2024</a:t>
            </a:r>
            <a:endParaRPr lang="en-US" sz="2600" dirty="0"/>
          </a:p>
        </p:txBody>
      </p:sp>
      <p:sp>
        <p:nvSpPr>
          <p:cNvPr id="6" name="Text 3"/>
          <p:cNvSpPr txBox="1"/>
          <p:nvPr/>
        </p:nvSpPr>
        <p:spPr>
          <a:xfrm>
            <a:off x="548640" y="2240280"/>
            <a:ext cx="1999427" cy="2926080"/>
          </a:xfrm>
          <a:prstGeom prst="rect">
            <a:avLst/>
          </a:prstGeom>
          <a:noFill/>
          <a:ln/>
        </p:spPr>
        <p:txBody>
          <a:bodyPr wrap="square" lIns="0" tIns="0" rIns="0" bIns="0" rtlCol="0" anchor="t"/>
          <a:lstStyle/>
          <a:p>
            <a:pPr indent="0" marL="0">
              <a:buNone/>
            </a:pPr>
            <a:r>
              <a:rPr lang="en-US" sz="1600" dirty="0">
                <a:solidFill>
                  <a:srgbClr val="16202C"/>
                </a:solidFill>
                <a:latin typeface="Calibri" pitchFamily="34" charset="0"/>
                <a:ea typeface="Calibri" pitchFamily="34" charset="-122"/>
                <a:cs typeface="Calibri" pitchFamily="34" charset="-120"/>
              </a:rPr>
              <a:t>An audit spots the out-of-memory weakness. Nobody can show it is exploitable, so it is left.</a:t>
            </a:r>
            <a:endParaRPr lang="en-US" sz="1600" dirty="0"/>
          </a:p>
        </p:txBody>
      </p:sp>
      <p:sp>
        <p:nvSpPr>
          <p:cNvPr id="7" name="tick-2"/>
          <p:cNvSpPr/>
          <p:nvPr/>
        </p:nvSpPr>
        <p:spPr>
          <a:xfrm>
            <a:off x="2822387" y="1463040"/>
            <a:ext cx="1999427" cy="73152"/>
          </a:xfrm>
          <a:prstGeom prst="rect">
            <a:avLst/>
          </a:prstGeom>
          <a:solidFill>
            <a:srgbClr val="0F766E"/>
          </a:solidFill>
          <a:ln w="12700">
            <a:solidFill>
              <a:srgbClr val="0F766E"/>
            </a:solidFill>
            <a:prstDash val="solid"/>
          </a:ln>
        </p:spPr>
      </p:sp>
      <p:sp>
        <p:nvSpPr>
          <p:cNvPr id="8" name="Text 5"/>
          <p:cNvSpPr txBox="1"/>
          <p:nvPr/>
        </p:nvSpPr>
        <p:spPr>
          <a:xfrm>
            <a:off x="2822387" y="1645920"/>
            <a:ext cx="1999427" cy="548640"/>
          </a:xfrm>
          <a:prstGeom prst="rect">
            <a:avLst/>
          </a:prstGeom>
          <a:noFill/>
          <a:ln/>
        </p:spPr>
        <p:txBody>
          <a:bodyPr wrap="square" lIns="0" tIns="0" rIns="0" bIns="0" rtlCol="0" anchor="ctr"/>
          <a:lstStyle/>
          <a:p>
            <a:pPr indent="0" marL="0">
              <a:buNone/>
            </a:pPr>
            <a:r>
              <a:rPr lang="en-US" sz="2600" b="1" dirty="0">
                <a:solidFill>
                  <a:srgbClr val="0B3B3A"/>
                </a:solidFill>
                <a:latin typeface="Calibri" pitchFamily="34" charset="0"/>
                <a:ea typeface="Calibri" pitchFamily="34" charset="-122"/>
                <a:cs typeface="Calibri" pitchFamily="34" charset="-120"/>
              </a:rPr>
              <a:t>Aug 2026</a:t>
            </a:r>
            <a:endParaRPr lang="en-US" sz="2600" dirty="0"/>
          </a:p>
        </p:txBody>
      </p:sp>
      <p:sp>
        <p:nvSpPr>
          <p:cNvPr id="9" name="Text 6"/>
          <p:cNvSpPr txBox="1"/>
          <p:nvPr/>
        </p:nvSpPr>
        <p:spPr>
          <a:xfrm>
            <a:off x="2822387" y="2240280"/>
            <a:ext cx="1999427" cy="2926080"/>
          </a:xfrm>
          <a:prstGeom prst="rect">
            <a:avLst/>
          </a:prstGeom>
          <a:noFill/>
          <a:ln/>
        </p:spPr>
        <p:txBody>
          <a:bodyPr wrap="square" lIns="0" tIns="0" rIns="0" bIns="0" rtlCol="0" anchor="t"/>
          <a:lstStyle/>
          <a:p>
            <a:pPr indent="0" marL="0">
              <a:buNone/>
            </a:pPr>
            <a:r>
              <a:rPr lang="en-US" sz="1600" dirty="0">
                <a:solidFill>
                  <a:srgbClr val="16202C"/>
                </a:solidFill>
                <a:latin typeface="Calibri" pitchFamily="34" charset="0"/>
                <a:ea typeface="Calibri" pitchFamily="34" charset="-122"/>
                <a:cs typeface="Calibri" pitchFamily="34" charset="-120"/>
              </a:rPr>
              <a:t>Three teams using AI turn it into working attacks within three weeks and report them to PHP.</a:t>
            </a:r>
            <a:endParaRPr lang="en-US" sz="1600" dirty="0"/>
          </a:p>
        </p:txBody>
      </p:sp>
      <p:sp>
        <p:nvSpPr>
          <p:cNvPr id="10" name="tick-3"/>
          <p:cNvSpPr/>
          <p:nvPr/>
        </p:nvSpPr>
        <p:spPr>
          <a:xfrm>
            <a:off x="5096134" y="1463040"/>
            <a:ext cx="1999427" cy="73152"/>
          </a:xfrm>
          <a:prstGeom prst="rect">
            <a:avLst/>
          </a:prstGeom>
          <a:solidFill>
            <a:srgbClr val="0F766E"/>
          </a:solidFill>
          <a:ln w="12700">
            <a:solidFill>
              <a:srgbClr val="0F766E"/>
            </a:solidFill>
            <a:prstDash val="solid"/>
          </a:ln>
        </p:spPr>
      </p:sp>
      <p:sp>
        <p:nvSpPr>
          <p:cNvPr id="11" name="Text 8"/>
          <p:cNvSpPr txBox="1"/>
          <p:nvPr/>
        </p:nvSpPr>
        <p:spPr>
          <a:xfrm>
            <a:off x="5096134" y="1645920"/>
            <a:ext cx="1999427" cy="548640"/>
          </a:xfrm>
          <a:prstGeom prst="rect">
            <a:avLst/>
          </a:prstGeom>
          <a:noFill/>
          <a:ln/>
        </p:spPr>
        <p:txBody>
          <a:bodyPr wrap="square" lIns="0" tIns="0" rIns="0" bIns="0" rtlCol="0" anchor="ctr"/>
          <a:lstStyle/>
          <a:p>
            <a:pPr indent="0" marL="0">
              <a:buNone/>
            </a:pPr>
            <a:r>
              <a:rPr lang="en-US" sz="2600" b="1" dirty="0">
                <a:solidFill>
                  <a:srgbClr val="0B3B3A"/>
                </a:solidFill>
                <a:latin typeface="Calibri" pitchFamily="34" charset="0"/>
                <a:ea typeface="Calibri" pitchFamily="34" charset="-122"/>
                <a:cs typeface="Calibri" pitchFamily="34" charset="-120"/>
              </a:rPr>
              <a:t>20 Oct</a:t>
            </a:r>
            <a:endParaRPr lang="en-US" sz="2600" dirty="0"/>
          </a:p>
        </p:txBody>
      </p:sp>
      <p:sp>
        <p:nvSpPr>
          <p:cNvPr id="12" name="Text 9"/>
          <p:cNvSpPr txBox="1"/>
          <p:nvPr/>
        </p:nvSpPr>
        <p:spPr>
          <a:xfrm>
            <a:off x="5096134" y="2240280"/>
            <a:ext cx="1999427" cy="2926080"/>
          </a:xfrm>
          <a:prstGeom prst="rect">
            <a:avLst/>
          </a:prstGeom>
          <a:noFill/>
          <a:ln/>
        </p:spPr>
        <p:txBody>
          <a:bodyPr wrap="square" lIns="0" tIns="0" rIns="0" bIns="0" rtlCol="0" anchor="t"/>
          <a:lstStyle/>
          <a:p>
            <a:pPr indent="0" marL="0">
              <a:buNone/>
            </a:pPr>
            <a:r>
              <a:rPr lang="en-US" sz="1600" dirty="0">
                <a:solidFill>
                  <a:srgbClr val="16202C"/>
                </a:solidFill>
                <a:latin typeface="Calibri" pitchFamily="34" charset="0"/>
                <a:ea typeface="Calibri" pitchFamily="34" charset="-122"/>
                <a:cs typeface="Calibri" pitchFamily="34" charset="-120"/>
              </a:rPr>
              <a:t>The secret leaks: the CVE numbers circulate two days early, with a wrong severity score.</a:t>
            </a:r>
            <a:endParaRPr lang="en-US" sz="1600" dirty="0"/>
          </a:p>
        </p:txBody>
      </p:sp>
      <p:sp>
        <p:nvSpPr>
          <p:cNvPr id="13" name="tick-4"/>
          <p:cNvSpPr/>
          <p:nvPr/>
        </p:nvSpPr>
        <p:spPr>
          <a:xfrm>
            <a:off x="7369881" y="1463040"/>
            <a:ext cx="1999427" cy="73152"/>
          </a:xfrm>
          <a:prstGeom prst="rect">
            <a:avLst/>
          </a:prstGeom>
          <a:solidFill>
            <a:srgbClr val="0F766E"/>
          </a:solidFill>
          <a:ln w="12700">
            <a:solidFill>
              <a:srgbClr val="0F766E"/>
            </a:solidFill>
            <a:prstDash val="solid"/>
          </a:ln>
        </p:spPr>
      </p:sp>
      <p:sp>
        <p:nvSpPr>
          <p:cNvPr id="14" name="Text 11"/>
          <p:cNvSpPr txBox="1"/>
          <p:nvPr/>
        </p:nvSpPr>
        <p:spPr>
          <a:xfrm>
            <a:off x="7369881" y="1645920"/>
            <a:ext cx="1999427" cy="548640"/>
          </a:xfrm>
          <a:prstGeom prst="rect">
            <a:avLst/>
          </a:prstGeom>
          <a:noFill/>
          <a:ln/>
        </p:spPr>
        <p:txBody>
          <a:bodyPr wrap="square" lIns="0" tIns="0" rIns="0" bIns="0" rtlCol="0" anchor="ctr"/>
          <a:lstStyle/>
          <a:p>
            <a:pPr indent="0" marL="0">
              <a:buNone/>
            </a:pPr>
            <a:r>
              <a:rPr lang="en-US" sz="2600" b="1" dirty="0">
                <a:solidFill>
                  <a:srgbClr val="0B3B3A"/>
                </a:solidFill>
                <a:latin typeface="Calibri" pitchFamily="34" charset="0"/>
                <a:ea typeface="Calibri" pitchFamily="34" charset="-122"/>
                <a:cs typeface="Calibri" pitchFamily="34" charset="-120"/>
              </a:rPr>
              <a:t>21 Oct</a:t>
            </a:r>
            <a:endParaRPr lang="en-US" sz="2600" dirty="0"/>
          </a:p>
        </p:txBody>
      </p:sp>
      <p:sp>
        <p:nvSpPr>
          <p:cNvPr id="15" name="Text 12"/>
          <p:cNvSpPr txBox="1"/>
          <p:nvPr/>
        </p:nvSpPr>
        <p:spPr>
          <a:xfrm>
            <a:off x="7369881" y="2240280"/>
            <a:ext cx="1999427" cy="2926080"/>
          </a:xfrm>
          <a:prstGeom prst="rect">
            <a:avLst/>
          </a:prstGeom>
          <a:noFill/>
          <a:ln/>
        </p:spPr>
        <p:txBody>
          <a:bodyPr wrap="square" lIns="0" tIns="0" rIns="0" bIns="0" rtlCol="0" anchor="t"/>
          <a:lstStyle/>
          <a:p>
            <a:pPr indent="0" marL="0">
              <a:buNone/>
            </a:pPr>
            <a:r>
              <a:rPr lang="en-US" sz="1600" dirty="0">
                <a:solidFill>
                  <a:srgbClr val="16202C"/>
                </a:solidFill>
                <a:latin typeface="Calibri" pitchFamily="34" charset="0"/>
                <a:ea typeface="Calibri" pitchFamily="34" charset="-122"/>
                <a:cs typeface="Calibri" pitchFamily="34" charset="-120"/>
              </a:rPr>
              <a:t>PHP releases the fix a day ahead of plan. Firewall vendors already have rules live.</a:t>
            </a:r>
            <a:endParaRPr lang="en-US" sz="1600" dirty="0"/>
          </a:p>
        </p:txBody>
      </p:sp>
      <p:sp>
        <p:nvSpPr>
          <p:cNvPr id="16" name="tick-5"/>
          <p:cNvSpPr/>
          <p:nvPr/>
        </p:nvSpPr>
        <p:spPr>
          <a:xfrm>
            <a:off x="9643628" y="1463040"/>
            <a:ext cx="1999427" cy="73152"/>
          </a:xfrm>
          <a:prstGeom prst="rect">
            <a:avLst/>
          </a:prstGeom>
          <a:solidFill>
            <a:srgbClr val="0F766E"/>
          </a:solidFill>
          <a:ln w="12700">
            <a:solidFill>
              <a:srgbClr val="0F766E"/>
            </a:solidFill>
            <a:prstDash val="solid"/>
          </a:ln>
        </p:spPr>
      </p:sp>
      <p:sp>
        <p:nvSpPr>
          <p:cNvPr id="17" name="Text 14"/>
          <p:cNvSpPr txBox="1"/>
          <p:nvPr/>
        </p:nvSpPr>
        <p:spPr>
          <a:xfrm>
            <a:off x="9643628" y="1645920"/>
            <a:ext cx="1999427" cy="548640"/>
          </a:xfrm>
          <a:prstGeom prst="rect">
            <a:avLst/>
          </a:prstGeom>
          <a:noFill/>
          <a:ln/>
        </p:spPr>
        <p:txBody>
          <a:bodyPr wrap="square" lIns="0" tIns="0" rIns="0" bIns="0" rtlCol="0" anchor="ctr"/>
          <a:lstStyle/>
          <a:p>
            <a:pPr indent="0" marL="0">
              <a:buNone/>
            </a:pPr>
            <a:r>
              <a:rPr lang="en-US" sz="2600" b="1" dirty="0">
                <a:solidFill>
                  <a:srgbClr val="0B3B3A"/>
                </a:solidFill>
                <a:latin typeface="Calibri" pitchFamily="34" charset="0"/>
                <a:ea typeface="Calibri" pitchFamily="34" charset="-122"/>
                <a:cs typeface="Calibri" pitchFamily="34" charset="-120"/>
              </a:rPr>
              <a:t>22 Oct</a:t>
            </a:r>
            <a:endParaRPr lang="en-US" sz="2600" dirty="0"/>
          </a:p>
        </p:txBody>
      </p:sp>
      <p:sp>
        <p:nvSpPr>
          <p:cNvPr id="18" name="Text 15"/>
          <p:cNvSpPr txBox="1"/>
          <p:nvPr/>
        </p:nvSpPr>
        <p:spPr>
          <a:xfrm>
            <a:off x="9643628" y="2240280"/>
            <a:ext cx="1999427" cy="2926080"/>
          </a:xfrm>
          <a:prstGeom prst="rect">
            <a:avLst/>
          </a:prstGeom>
          <a:noFill/>
          <a:ln/>
        </p:spPr>
        <p:txBody>
          <a:bodyPr wrap="square" lIns="0" tIns="0" rIns="0" bIns="0" rtlCol="0" anchor="t"/>
          <a:lstStyle/>
          <a:p>
            <a:pPr indent="0" marL="0">
              <a:buNone/>
            </a:pPr>
            <a:r>
              <a:rPr lang="en-US" sz="1600" dirty="0">
                <a:solidFill>
                  <a:srgbClr val="16202C"/>
                </a:solidFill>
                <a:latin typeface="Calibri" pitchFamily="34" charset="0"/>
                <a:ea typeface="Calibri" pitchFamily="34" charset="-122"/>
                <a:cs typeface="Calibri" pitchFamily="34" charset="-120"/>
              </a:rPr>
              <a:t>Agencies warn: update, or take systems offline. Sites go dark as a precaution.</a:t>
            </a:r>
            <a:endParaRPr lang="en-US" sz="16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ext 0"/>
          <p:cNvSpPr/>
          <p:nvPr>
            <p:ph idx="100" type="title" hasCustomPrompt="1"/>
          </p:nvPr>
        </p:nvSpPr>
        <p:spPr>
          <a:xfrm>
            <a:off x="548640" y="365760"/>
            <a:ext cx="11094415" cy="822960"/>
          </a:xfrm>
          <a:prstGeom prst="rect">
            <a:avLst/>
          </a:prstGeom>
          <a:noFill/>
          <a:ln/>
        </p:spPr>
        <p:txBody>
          <a:bodyPr wrap="square" lIns="0" tIns="0" rIns="0" bIns="0" rtlCol="0" anchor="t"/>
          <a:lstStyle/>
          <a:p>
            <a:pPr algn="l" indent="0" marL="0">
              <a:buNone/>
            </a:pPr>
            <a:r>
              <a:rPr lang="en-US" sz="3600" b="1" dirty="0">
                <a:solidFill>
                  <a:srgbClr val="0B3B3A"/>
                </a:solidFill>
                <a:latin typeface="Calibri" pitchFamily="34" charset="0"/>
                <a:ea typeface="Calibri" pitchFamily="34" charset="-122"/>
                <a:cs typeface="Calibri" pitchFamily="34" charset="-120"/>
              </a:rPr>
              <a:t>Where it stands now</a:t>
            </a:r>
            <a:endParaRPr lang="en-US" sz="3600" dirty="0"/>
          </a:p>
        </p:txBody>
      </p:sp>
      <p:sp>
        <p:nvSpPr>
          <p:cNvPr id="4" name="stat-1"/>
          <p:cNvSpPr/>
          <p:nvPr/>
        </p:nvSpPr>
        <p:spPr>
          <a:xfrm>
            <a:off x="548640" y="1234440"/>
            <a:ext cx="2567864" cy="2057400"/>
          </a:xfrm>
          <a:prstGeom prst="roundRect">
            <a:avLst>
              <a:gd name="adj" fmla="val 4444"/>
            </a:avLst>
          </a:prstGeom>
          <a:solidFill>
            <a:srgbClr val="F1F5F9"/>
          </a:solidFill>
          <a:ln w="12700">
            <a:solidFill>
              <a:srgbClr val="F1F5F9"/>
            </a:solidFill>
            <a:prstDash val="solid"/>
          </a:ln>
        </p:spPr>
      </p:sp>
      <p:sp>
        <p:nvSpPr>
          <p:cNvPr id="5" name="Text 2"/>
          <p:cNvSpPr txBox="1"/>
          <p:nvPr/>
        </p:nvSpPr>
        <p:spPr>
          <a:xfrm>
            <a:off x="777240" y="1371600"/>
            <a:ext cx="2110664" cy="777240"/>
          </a:xfrm>
          <a:prstGeom prst="rect">
            <a:avLst/>
          </a:prstGeom>
          <a:noFill/>
          <a:ln/>
        </p:spPr>
        <p:txBody>
          <a:bodyPr wrap="square" lIns="0" tIns="0" rIns="0" bIns="0" rtlCol="0" anchor="ctr"/>
          <a:lstStyle/>
          <a:p>
            <a:pPr indent="0" marL="0">
              <a:buNone/>
            </a:pPr>
            <a:r>
              <a:rPr lang="en-US" sz="3600" b="1" dirty="0">
                <a:solidFill>
                  <a:srgbClr val="0F766E"/>
                </a:solidFill>
                <a:latin typeface="Calibri" pitchFamily="34" charset="0"/>
                <a:ea typeface="Calibri" pitchFamily="34" charset="-122"/>
                <a:cs typeface="Calibri" pitchFamily="34" charset="-120"/>
              </a:rPr>
              <a:t>millions</a:t>
            </a:r>
            <a:endParaRPr lang="en-US" sz="3600" dirty="0"/>
          </a:p>
        </p:txBody>
      </p:sp>
      <p:sp>
        <p:nvSpPr>
          <p:cNvPr id="6" name="Text 3"/>
          <p:cNvSpPr txBox="1"/>
          <p:nvPr/>
        </p:nvSpPr>
        <p:spPr>
          <a:xfrm>
            <a:off x="777240" y="2148840"/>
            <a:ext cx="2110664" cy="365760"/>
          </a:xfrm>
          <a:prstGeom prst="rect">
            <a:avLst/>
          </a:prstGeom>
          <a:noFill/>
          <a:ln/>
        </p:spPr>
        <p:txBody>
          <a:bodyPr wrap="square" lIns="0" tIns="0" rIns="0" bIns="0" rtlCol="0" anchor="ctr"/>
          <a:lstStyle/>
          <a:p>
            <a:pPr indent="0" marL="0">
              <a:buNone/>
            </a:pPr>
            <a:r>
              <a:rPr lang="en-US" sz="1500" b="1" dirty="0">
                <a:solidFill>
                  <a:srgbClr val="16202C"/>
                </a:solidFill>
                <a:latin typeface="Calibri" pitchFamily="34" charset="0"/>
                <a:ea typeface="Calibri" pitchFamily="34" charset="-122"/>
                <a:cs typeface="Calibri" pitchFamily="34" charset="-120"/>
              </a:rPr>
              <a:t>attack attempts</a:t>
            </a:r>
            <a:endParaRPr lang="en-US" sz="1500" dirty="0"/>
          </a:p>
        </p:txBody>
      </p:sp>
      <p:sp>
        <p:nvSpPr>
          <p:cNvPr id="7" name="Text 4"/>
          <p:cNvSpPr txBox="1"/>
          <p:nvPr/>
        </p:nvSpPr>
        <p:spPr>
          <a:xfrm>
            <a:off x="777240" y="2496312"/>
            <a:ext cx="2110664" cy="292608"/>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at one CDN, by 22 Oct</a:t>
            </a:r>
            <a:endParaRPr lang="en-US" sz="1100" dirty="0"/>
          </a:p>
        </p:txBody>
      </p:sp>
      <p:sp>
        <p:nvSpPr>
          <p:cNvPr id="8" name="Text 5"/>
          <p:cNvSpPr txBox="1"/>
          <p:nvPr/>
        </p:nvSpPr>
        <p:spPr>
          <a:xfrm>
            <a:off x="777240" y="2880360"/>
            <a:ext cx="1234440" cy="256032"/>
          </a:xfrm>
          <a:prstGeom prst="roundRect">
            <a:avLst>
              <a:gd name="adj" fmla="val 21429"/>
            </a:avLst>
          </a:prstGeom>
          <a:solidFill>
            <a:srgbClr val="DBEAFE"/>
          </a:solidFill>
          <a:ln/>
        </p:spPr>
        <p:txBody>
          <a:bodyPr wrap="square" lIns="0" tIns="0" rIns="0" bIns="0" rtlCol="0" anchor="ctr"/>
          <a:lstStyle/>
          <a:p>
            <a:pPr algn="ctr" indent="0" marL="0">
              <a:buNone/>
            </a:pPr>
            <a:r>
              <a:rPr lang="en-US" sz="1000" b="1" spc="100" kern="0" dirty="0">
                <a:solidFill>
                  <a:srgbClr val="1D4ED8"/>
                </a:solidFill>
                <a:latin typeface="Calibri" pitchFamily="34" charset="0"/>
                <a:ea typeface="Calibri" pitchFamily="34" charset="-122"/>
                <a:cs typeface="Calibri" pitchFamily="34" charset="-120"/>
              </a:rPr>
              <a:t>REPORTED</a:t>
            </a:r>
            <a:endParaRPr lang="en-US" sz="1000" dirty="0"/>
          </a:p>
        </p:txBody>
      </p:sp>
      <p:sp>
        <p:nvSpPr>
          <p:cNvPr id="9" name="stat-2"/>
          <p:cNvSpPr/>
          <p:nvPr/>
        </p:nvSpPr>
        <p:spPr>
          <a:xfrm>
            <a:off x="3390824" y="1234440"/>
            <a:ext cx="2567864" cy="2057400"/>
          </a:xfrm>
          <a:prstGeom prst="roundRect">
            <a:avLst>
              <a:gd name="adj" fmla="val 4444"/>
            </a:avLst>
          </a:prstGeom>
          <a:solidFill>
            <a:srgbClr val="F1F5F9"/>
          </a:solidFill>
          <a:ln w="12700">
            <a:solidFill>
              <a:srgbClr val="F1F5F9"/>
            </a:solidFill>
            <a:prstDash val="solid"/>
          </a:ln>
        </p:spPr>
      </p:sp>
      <p:sp>
        <p:nvSpPr>
          <p:cNvPr id="10" name="Text 7"/>
          <p:cNvSpPr txBox="1"/>
          <p:nvPr/>
        </p:nvSpPr>
        <p:spPr>
          <a:xfrm>
            <a:off x="3619424" y="1371600"/>
            <a:ext cx="2110664" cy="777240"/>
          </a:xfrm>
          <a:prstGeom prst="rect">
            <a:avLst/>
          </a:prstGeom>
          <a:noFill/>
          <a:ln/>
        </p:spPr>
        <p:txBody>
          <a:bodyPr wrap="square" lIns="0" tIns="0" rIns="0" bIns="0" rtlCol="0" anchor="ctr"/>
          <a:lstStyle/>
          <a:p>
            <a:pPr indent="0" marL="0">
              <a:buNone/>
            </a:pPr>
            <a:r>
              <a:rPr lang="en-US" sz="4800" b="1" dirty="0">
                <a:solidFill>
                  <a:srgbClr val="0F766E"/>
                </a:solidFill>
                <a:latin typeface="Calibri" pitchFamily="34" charset="0"/>
                <a:ea typeface="Calibri" pitchFamily="34" charset="-122"/>
                <a:cs typeface="Calibri" pitchFamily="34" charset="-120"/>
              </a:rPr>
              <a:t>0</a:t>
            </a:r>
            <a:endParaRPr lang="en-US" sz="4800" dirty="0"/>
          </a:p>
        </p:txBody>
      </p:sp>
      <p:sp>
        <p:nvSpPr>
          <p:cNvPr id="11" name="Text 8"/>
          <p:cNvSpPr txBox="1"/>
          <p:nvPr/>
        </p:nvSpPr>
        <p:spPr>
          <a:xfrm>
            <a:off x="3619424" y="2148840"/>
            <a:ext cx="2110664" cy="365760"/>
          </a:xfrm>
          <a:prstGeom prst="rect">
            <a:avLst/>
          </a:prstGeom>
          <a:noFill/>
          <a:ln/>
        </p:spPr>
        <p:txBody>
          <a:bodyPr wrap="square" lIns="0" tIns="0" rIns="0" bIns="0" rtlCol="0" anchor="ctr"/>
          <a:lstStyle/>
          <a:p>
            <a:pPr indent="0" marL="0">
              <a:buNone/>
            </a:pPr>
            <a:r>
              <a:rPr lang="en-US" sz="1500" b="1" dirty="0">
                <a:solidFill>
                  <a:srgbClr val="16202C"/>
                </a:solidFill>
                <a:latin typeface="Calibri" pitchFamily="34" charset="0"/>
                <a:ea typeface="Calibri" pitchFamily="34" charset="-122"/>
                <a:cs typeface="Calibri" pitchFamily="34" charset="-120"/>
              </a:rPr>
              <a:t>confirmed break-ins</a:t>
            </a:r>
            <a:endParaRPr lang="en-US" sz="1500" dirty="0"/>
          </a:p>
        </p:txBody>
      </p:sp>
      <p:sp>
        <p:nvSpPr>
          <p:cNvPr id="12" name="Text 9"/>
          <p:cNvSpPr txBox="1"/>
          <p:nvPr/>
        </p:nvSpPr>
        <p:spPr>
          <a:xfrm>
            <a:off x="3619424" y="2496312"/>
            <a:ext cx="2110664" cy="292608"/>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named organisations</a:t>
            </a:r>
            <a:endParaRPr lang="en-US" sz="1100" dirty="0"/>
          </a:p>
        </p:txBody>
      </p:sp>
      <p:sp>
        <p:nvSpPr>
          <p:cNvPr id="13" name="Text 10"/>
          <p:cNvSpPr txBox="1"/>
          <p:nvPr/>
        </p:nvSpPr>
        <p:spPr>
          <a:xfrm>
            <a:off x="3619424" y="2880360"/>
            <a:ext cx="1234440" cy="256032"/>
          </a:xfrm>
          <a:prstGeom prst="roundRect">
            <a:avLst>
              <a:gd name="adj" fmla="val 21429"/>
            </a:avLst>
          </a:prstGeom>
          <a:solidFill>
            <a:srgbClr val="DCFCE7"/>
          </a:solidFill>
          <a:ln/>
        </p:spPr>
        <p:txBody>
          <a:bodyPr wrap="square" lIns="0" tIns="0" rIns="0" bIns="0" rtlCol="0" anchor="ctr"/>
          <a:lstStyle/>
          <a:p>
            <a:pPr algn="ctr" indent="0" marL="0">
              <a:buNone/>
            </a:pPr>
            <a:r>
              <a:rPr lang="en-US" sz="1000" b="1" spc="100" kern="0" dirty="0">
                <a:solidFill>
                  <a:srgbClr val="15803D"/>
                </a:solidFill>
                <a:latin typeface="Calibri" pitchFamily="34" charset="0"/>
                <a:ea typeface="Calibri" pitchFamily="34" charset="-122"/>
                <a:cs typeface="Calibri" pitchFamily="34" charset="-120"/>
              </a:rPr>
              <a:t>CONFIRMED</a:t>
            </a:r>
            <a:endParaRPr lang="en-US" sz="1000" dirty="0"/>
          </a:p>
        </p:txBody>
      </p:sp>
      <p:sp>
        <p:nvSpPr>
          <p:cNvPr id="14" name="stat-3"/>
          <p:cNvSpPr/>
          <p:nvPr/>
        </p:nvSpPr>
        <p:spPr>
          <a:xfrm>
            <a:off x="6233008" y="1234440"/>
            <a:ext cx="2567864" cy="2057400"/>
          </a:xfrm>
          <a:prstGeom prst="roundRect">
            <a:avLst>
              <a:gd name="adj" fmla="val 4444"/>
            </a:avLst>
          </a:prstGeom>
          <a:solidFill>
            <a:srgbClr val="F1F5F9"/>
          </a:solidFill>
          <a:ln w="12700">
            <a:solidFill>
              <a:srgbClr val="F1F5F9"/>
            </a:solidFill>
            <a:prstDash val="solid"/>
          </a:ln>
        </p:spPr>
      </p:sp>
      <p:sp>
        <p:nvSpPr>
          <p:cNvPr id="15" name="Text 12"/>
          <p:cNvSpPr txBox="1"/>
          <p:nvPr/>
        </p:nvSpPr>
        <p:spPr>
          <a:xfrm>
            <a:off x="6461608" y="1371600"/>
            <a:ext cx="2110664" cy="777240"/>
          </a:xfrm>
          <a:prstGeom prst="rect">
            <a:avLst/>
          </a:prstGeom>
          <a:noFill/>
          <a:ln/>
        </p:spPr>
        <p:txBody>
          <a:bodyPr wrap="square" lIns="0" tIns="0" rIns="0" bIns="0" rtlCol="0" anchor="ctr"/>
          <a:lstStyle/>
          <a:p>
            <a:pPr indent="0" marL="0">
              <a:buNone/>
            </a:pPr>
            <a:r>
              <a:rPr lang="en-US" sz="4800" b="1" dirty="0">
                <a:solidFill>
                  <a:srgbClr val="0F766E"/>
                </a:solidFill>
                <a:latin typeface="Calibri" pitchFamily="34" charset="0"/>
                <a:ea typeface="Calibri" pitchFamily="34" charset="-122"/>
                <a:cs typeface="Calibri" pitchFamily="34" charset="-120"/>
              </a:rPr>
              <a:t>10</a:t>
            </a:r>
            <a:endParaRPr lang="en-US" sz="4800" dirty="0"/>
          </a:p>
        </p:txBody>
      </p:sp>
      <p:sp>
        <p:nvSpPr>
          <p:cNvPr id="16" name="Text 13"/>
          <p:cNvSpPr txBox="1"/>
          <p:nvPr/>
        </p:nvSpPr>
        <p:spPr>
          <a:xfrm>
            <a:off x="6461608" y="2148840"/>
            <a:ext cx="2110664" cy="365760"/>
          </a:xfrm>
          <a:prstGeom prst="rect">
            <a:avLst/>
          </a:prstGeom>
          <a:noFill/>
          <a:ln/>
        </p:spPr>
        <p:txBody>
          <a:bodyPr wrap="square" lIns="0" tIns="0" rIns="0" bIns="0" rtlCol="0" anchor="ctr"/>
          <a:lstStyle/>
          <a:p>
            <a:pPr indent="0" marL="0">
              <a:buNone/>
            </a:pPr>
            <a:r>
              <a:rPr lang="en-US" sz="1500" b="1" dirty="0">
                <a:solidFill>
                  <a:srgbClr val="16202C"/>
                </a:solidFill>
                <a:latin typeface="Calibri" pitchFamily="34" charset="0"/>
                <a:ea typeface="Calibri" pitchFamily="34" charset="-122"/>
                <a:cs typeface="Calibri" pitchFamily="34" charset="-120"/>
              </a:rPr>
              <a:t>organisations offline</a:t>
            </a:r>
            <a:endParaRPr lang="en-US" sz="1500" dirty="0"/>
          </a:p>
        </p:txBody>
      </p:sp>
      <p:sp>
        <p:nvSpPr>
          <p:cNvPr id="17" name="Text 14"/>
          <p:cNvSpPr txBox="1"/>
          <p:nvPr/>
        </p:nvSpPr>
        <p:spPr>
          <a:xfrm>
            <a:off x="6461608" y="2496312"/>
            <a:ext cx="2110664" cy="292608"/>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reported, as a precaution</a:t>
            </a:r>
            <a:endParaRPr lang="en-US" sz="1100" dirty="0"/>
          </a:p>
        </p:txBody>
      </p:sp>
      <p:sp>
        <p:nvSpPr>
          <p:cNvPr id="18" name="Text 15"/>
          <p:cNvSpPr txBox="1"/>
          <p:nvPr/>
        </p:nvSpPr>
        <p:spPr>
          <a:xfrm>
            <a:off x="6461608" y="2880360"/>
            <a:ext cx="1234440" cy="256032"/>
          </a:xfrm>
          <a:prstGeom prst="roundRect">
            <a:avLst>
              <a:gd name="adj" fmla="val 21429"/>
            </a:avLst>
          </a:prstGeom>
          <a:solidFill>
            <a:srgbClr val="DBEAFE"/>
          </a:solidFill>
          <a:ln/>
        </p:spPr>
        <p:txBody>
          <a:bodyPr wrap="square" lIns="0" tIns="0" rIns="0" bIns="0" rtlCol="0" anchor="ctr"/>
          <a:lstStyle/>
          <a:p>
            <a:pPr algn="ctr" indent="0" marL="0">
              <a:buNone/>
            </a:pPr>
            <a:r>
              <a:rPr lang="en-US" sz="1000" b="1" spc="100" kern="0" dirty="0">
                <a:solidFill>
                  <a:srgbClr val="1D4ED8"/>
                </a:solidFill>
                <a:latin typeface="Calibri" pitchFamily="34" charset="0"/>
                <a:ea typeface="Calibri" pitchFamily="34" charset="-122"/>
                <a:cs typeface="Calibri" pitchFamily="34" charset="-120"/>
              </a:rPr>
              <a:t>REPORTED</a:t>
            </a:r>
            <a:endParaRPr lang="en-US" sz="1000" dirty="0"/>
          </a:p>
        </p:txBody>
      </p:sp>
      <p:sp>
        <p:nvSpPr>
          <p:cNvPr id="19" name="stat-4"/>
          <p:cNvSpPr/>
          <p:nvPr/>
        </p:nvSpPr>
        <p:spPr>
          <a:xfrm>
            <a:off x="9075191" y="1234440"/>
            <a:ext cx="2567864" cy="2057400"/>
          </a:xfrm>
          <a:prstGeom prst="roundRect">
            <a:avLst>
              <a:gd name="adj" fmla="val 4444"/>
            </a:avLst>
          </a:prstGeom>
          <a:solidFill>
            <a:srgbClr val="F1F5F9"/>
          </a:solidFill>
          <a:ln w="12700">
            <a:solidFill>
              <a:srgbClr val="F1F5F9"/>
            </a:solidFill>
            <a:prstDash val="solid"/>
          </a:ln>
        </p:spPr>
      </p:sp>
      <p:sp>
        <p:nvSpPr>
          <p:cNvPr id="20" name="Text 17"/>
          <p:cNvSpPr txBox="1"/>
          <p:nvPr/>
        </p:nvSpPr>
        <p:spPr>
          <a:xfrm>
            <a:off x="9303791" y="1371600"/>
            <a:ext cx="2110664" cy="777240"/>
          </a:xfrm>
          <a:prstGeom prst="rect">
            <a:avLst/>
          </a:prstGeom>
          <a:noFill/>
          <a:ln/>
        </p:spPr>
        <p:txBody>
          <a:bodyPr wrap="square" lIns="0" tIns="0" rIns="0" bIns="0" rtlCol="0" anchor="ctr"/>
          <a:lstStyle/>
          <a:p>
            <a:pPr indent="0" marL="0">
              <a:buNone/>
            </a:pPr>
            <a:r>
              <a:rPr lang="en-US" sz="4800" b="1" dirty="0">
                <a:solidFill>
                  <a:srgbClr val="0F766E"/>
                </a:solidFill>
                <a:latin typeface="Calibri" pitchFamily="34" charset="0"/>
                <a:ea typeface="Calibri" pitchFamily="34" charset="-122"/>
                <a:cs typeface="Calibri" pitchFamily="34" charset="-120"/>
              </a:rPr>
              <a:t>No</a:t>
            </a:r>
            <a:endParaRPr lang="en-US" sz="4800" dirty="0"/>
          </a:p>
        </p:txBody>
      </p:sp>
      <p:sp>
        <p:nvSpPr>
          <p:cNvPr id="21" name="Text 18"/>
          <p:cNvSpPr txBox="1"/>
          <p:nvPr/>
        </p:nvSpPr>
        <p:spPr>
          <a:xfrm>
            <a:off x="9303791" y="2148840"/>
            <a:ext cx="2110664" cy="365760"/>
          </a:xfrm>
          <a:prstGeom prst="rect">
            <a:avLst/>
          </a:prstGeom>
          <a:noFill/>
          <a:ln/>
        </p:spPr>
        <p:txBody>
          <a:bodyPr wrap="square" lIns="0" tIns="0" rIns="0" bIns="0" rtlCol="0" anchor="ctr"/>
          <a:lstStyle/>
          <a:p>
            <a:pPr indent="0" marL="0">
              <a:buNone/>
            </a:pPr>
            <a:r>
              <a:rPr lang="en-US" sz="1500" b="1" dirty="0">
                <a:solidFill>
                  <a:srgbClr val="16202C"/>
                </a:solidFill>
                <a:latin typeface="Calibri" pitchFamily="34" charset="0"/>
                <a:ea typeface="Calibri" pitchFamily="34" charset="-122"/>
                <a:cs typeface="Calibri" pitchFamily="34" charset="-120"/>
              </a:rPr>
              <a:t>on CISA's exploited list</a:t>
            </a:r>
            <a:endParaRPr lang="en-US" sz="1500" dirty="0"/>
          </a:p>
        </p:txBody>
      </p:sp>
      <p:sp>
        <p:nvSpPr>
          <p:cNvPr id="22" name="Text 19"/>
          <p:cNvSpPr txBox="1"/>
          <p:nvPr/>
        </p:nvSpPr>
        <p:spPr>
          <a:xfrm>
            <a:off x="9303791" y="2496312"/>
            <a:ext cx="2110664" cy="292608"/>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neither flaw, at the latest check</a:t>
            </a:r>
            <a:endParaRPr lang="en-US" sz="1100" dirty="0"/>
          </a:p>
        </p:txBody>
      </p:sp>
      <p:sp>
        <p:nvSpPr>
          <p:cNvPr id="23" name="Text 20"/>
          <p:cNvSpPr txBox="1"/>
          <p:nvPr/>
        </p:nvSpPr>
        <p:spPr>
          <a:xfrm>
            <a:off x="9303791" y="2880360"/>
            <a:ext cx="1234440" cy="256032"/>
          </a:xfrm>
          <a:prstGeom prst="roundRect">
            <a:avLst>
              <a:gd name="adj" fmla="val 21429"/>
            </a:avLst>
          </a:prstGeom>
          <a:solidFill>
            <a:srgbClr val="DCFCE7"/>
          </a:solidFill>
          <a:ln/>
        </p:spPr>
        <p:txBody>
          <a:bodyPr wrap="square" lIns="0" tIns="0" rIns="0" bIns="0" rtlCol="0" anchor="ctr"/>
          <a:lstStyle/>
          <a:p>
            <a:pPr algn="ctr" indent="0" marL="0">
              <a:buNone/>
            </a:pPr>
            <a:r>
              <a:rPr lang="en-US" sz="1000" b="1" spc="100" kern="0" dirty="0">
                <a:solidFill>
                  <a:srgbClr val="15803D"/>
                </a:solidFill>
                <a:latin typeface="Calibri" pitchFamily="34" charset="0"/>
                <a:ea typeface="Calibri" pitchFamily="34" charset="-122"/>
                <a:cs typeface="Calibri" pitchFamily="34" charset="-120"/>
              </a:rPr>
              <a:t>CONFIRMED</a:t>
            </a:r>
            <a:endParaRPr lang="en-US" sz="1000" dirty="0"/>
          </a:p>
        </p:txBody>
      </p:sp>
      <p:sp>
        <p:nvSpPr>
          <p:cNvPr id="24" name="Text 21"/>
          <p:cNvSpPr txBox="1"/>
          <p:nvPr/>
        </p:nvSpPr>
        <p:spPr>
          <a:xfrm>
            <a:off x="548640" y="3611880"/>
            <a:ext cx="11094415" cy="219456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16202C"/>
                </a:solidFill>
                <a:latin typeface="Calibri" pitchFamily="34" charset="0"/>
                <a:ea typeface="Calibri" pitchFamily="34" charset="-122"/>
                <a:cs typeface="Calibri" pitchFamily="34" charset="-120"/>
              </a:rPr>
              <a:t>[confirmed] Some organisations took websites offline as a precaution, among them Dutch government services such as the DigiD login.</a:t>
            </a:r>
            <a:endParaRPr lang="en-US" sz="1600" dirty="0"/>
          </a:p>
          <a:p>
            <a:pPr marL="342900" indent="-342900">
              <a:spcAft>
                <a:spcPts val="800"/>
              </a:spcAft>
              <a:buSzPct val="100000"/>
              <a:buChar char="•"/>
            </a:pPr>
            <a:r>
              <a:rPr lang="en-US" sz="1600" dirty="0">
                <a:solidFill>
                  <a:srgbClr val="16202C"/>
                </a:solidFill>
                <a:latin typeface="Calibri" pitchFamily="34" charset="0"/>
                <a:ea typeface="Calibri" pitchFamily="34" charset="-122"/>
                <a:cs typeface="Calibri" pitchFamily="34" charset="-120"/>
              </a:rPr>
              <a:t>[confirmed] Offline is a decision, not evidence of a hack.</a:t>
            </a:r>
            <a:endParaRPr lang="en-US" sz="16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ext 0"/>
          <p:cNvSpPr/>
          <p:nvPr>
            <p:ph idx="100" type="title" hasCustomPrompt="1"/>
          </p:nvPr>
        </p:nvSpPr>
        <p:spPr>
          <a:xfrm>
            <a:off x="548640" y="365760"/>
            <a:ext cx="11094415" cy="822960"/>
          </a:xfrm>
          <a:prstGeom prst="rect">
            <a:avLst/>
          </a:prstGeom>
          <a:noFill/>
          <a:ln/>
        </p:spPr>
        <p:txBody>
          <a:bodyPr wrap="square" lIns="0" tIns="0" rIns="0" bIns="0" rtlCol="0" anchor="t"/>
          <a:lstStyle/>
          <a:p>
            <a:pPr algn="l" indent="0" marL="0">
              <a:buNone/>
            </a:pPr>
            <a:r>
              <a:rPr lang="en-US" sz="3600" b="1" dirty="0">
                <a:solidFill>
                  <a:srgbClr val="0B3B3A"/>
                </a:solidFill>
                <a:latin typeface="Calibri" pitchFamily="34" charset="0"/>
                <a:ea typeface="Calibri" pitchFamily="34" charset="-122"/>
                <a:cs typeface="Calibri" pitchFamily="34" charset="-120"/>
              </a:rPr>
              <a:t>How sure we are</a:t>
            </a:r>
            <a:endParaRPr lang="en-US" sz="3600" dirty="0"/>
          </a:p>
        </p:txBody>
      </p:sp>
      <p:sp>
        <p:nvSpPr>
          <p:cNvPr id="4" name="Text 1"/>
          <p:cNvSpPr txBox="1"/>
          <p:nvPr/>
        </p:nvSpPr>
        <p:spPr>
          <a:xfrm>
            <a:off x="548640" y="1143000"/>
            <a:ext cx="11094415" cy="457200"/>
          </a:xfrm>
          <a:prstGeom prst="rect">
            <a:avLst/>
          </a:prstGeom>
          <a:noFill/>
          <a:ln/>
        </p:spPr>
        <p:txBody>
          <a:bodyPr wrap="square" lIns="0" tIns="0" rIns="0" bIns="0" rtlCol="0" anchor="ctr"/>
          <a:lstStyle/>
          <a:p>
            <a:pPr indent="0" marL="0">
              <a:buNone/>
            </a:pPr>
            <a:r>
              <a:rPr lang="en-US" sz="1800" dirty="0">
                <a:solidFill>
                  <a:srgbClr val="334155"/>
                </a:solidFill>
                <a:latin typeface="Calibri" pitchFamily="34" charset="0"/>
                <a:ea typeface="Calibri" pitchFamily="34" charset="-122"/>
                <a:cs typeface="Calibri" pitchFamily="34" charset="-120"/>
              </a:rPr>
              <a:t>70 statements checked. Confirmed means two or more original sources agree.</a:t>
            </a:r>
            <a:endParaRPr lang="en-US" sz="1800" dirty="0"/>
          </a:p>
        </p:txBody>
      </p:sp>
      <p:graphicFrame>
        <p:nvGraphicFramePr>
          <p:cNvPr id="5" name="Chart 0" descr=""/>
          <p:cNvGraphicFramePr/>
          <p:nvPr/>
        </p:nvGraphicFramePr>
        <p:xfrm>
          <a:off x="548640" y="1737360"/>
          <a:ext cx="5852160" cy="4023360"/>
        </p:xfrm>
        <a:graphic xmlns:a="http://schemas.openxmlformats.org/drawingml/2006/main">
          <a:graphicData uri="http://schemas.openxmlformats.org/drawingml/2006/chart">
            <c:chart xmlns:c="http://schemas.openxmlformats.org/drawingml/2006/chart" r:id="rId1"/>
          </a:graphicData>
        </a:graphic>
      </p:graphicFrame>
      <p:sp>
        <p:nvSpPr>
          <p:cNvPr id="6" name="Text 2"/>
          <p:cNvSpPr txBox="1"/>
          <p:nvPr/>
        </p:nvSpPr>
        <p:spPr>
          <a:xfrm>
            <a:off x="548640" y="5806440"/>
            <a:ext cx="5852160" cy="27432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From data/claims.json</a:t>
            </a:r>
            <a:endParaRPr lang="en-US" sz="1000" dirty="0"/>
          </a:p>
        </p:txBody>
      </p:sp>
      <p:sp>
        <p:nvSpPr>
          <p:cNvPr id="7" name="Text 3"/>
          <p:cNvSpPr txBox="1"/>
          <p:nvPr/>
        </p:nvSpPr>
        <p:spPr>
          <a:xfrm>
            <a:off x="6858000" y="1920240"/>
            <a:ext cx="4785055" cy="384048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16202C"/>
                </a:solidFill>
                <a:latin typeface="Calibri" pitchFamily="34" charset="0"/>
                <a:ea typeface="Calibri" pitchFamily="34" charset="-122"/>
                <a:cs typeface="Calibri" pitchFamily="34" charset="-120"/>
              </a:rPr>
              <a:t>[confirmed] The headline '70% of the Internet' is not what it sounds like. It is roughly the share of websites built with PHP, which is what the same company's own article says; nobody has measured how many are actually at risk.</a:t>
            </a:r>
            <a:endParaRPr lang="en-US" sz="1600" dirty="0"/>
          </a:p>
          <a:p>
            <a:pPr marL="342900" indent="-342900">
              <a:spcAft>
                <a:spcPts val="800"/>
              </a:spcAft>
              <a:buSzPct val="100000"/>
              <a:buChar char="•"/>
            </a:pPr>
            <a:r>
              <a:rPr lang="en-US" sz="1600" dirty="0">
                <a:solidFill>
                  <a:srgbClr val="16202C"/>
                </a:solidFill>
                <a:latin typeface="Calibri" pitchFamily="34" charset="0"/>
                <a:ea typeface="Calibri" pitchFamily="34" charset="-122"/>
                <a:cs typeface="Calibri" pitchFamily="34" charset="-120"/>
              </a:rPr>
              <a:t>Each statement, its status and its saved sources: php.oct.2026.newsroom.sgit.ai/claims/</a:t>
            </a:r>
            <a:endParaRPr lang="en-US" sz="16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0"/>
          <p:cNvSpPr/>
          <p:nvPr>
            <p:ph idx="100" type="title" hasCustomPrompt="1"/>
          </p:nvPr>
        </p:nvSpPr>
        <p:spPr>
          <a:xfrm>
            <a:off x="548640" y="365760"/>
            <a:ext cx="11094415" cy="822960"/>
          </a:xfrm>
          <a:prstGeom prst="rect">
            <a:avLst/>
          </a:prstGeom>
          <a:noFill/>
          <a:ln/>
        </p:spPr>
        <p:txBody>
          <a:bodyPr wrap="square" lIns="0" tIns="0" rIns="0" bIns="0" rtlCol="0" anchor="t"/>
          <a:lstStyle/>
          <a:p>
            <a:pPr algn="l" indent="0" marL="0">
              <a:buNone/>
            </a:pPr>
            <a:r>
              <a:rPr lang="en-US" sz="3600" b="1" dirty="0">
                <a:solidFill>
                  <a:srgbClr val="0B3B3A"/>
                </a:solidFill>
                <a:latin typeface="Calibri" pitchFamily="34" charset="0"/>
                <a:ea typeface="Calibri" pitchFamily="34" charset="-122"/>
                <a:cs typeface="Calibri" pitchFamily="34" charset="-120"/>
              </a:rPr>
              <a:t>Exposed is not exploited</a:t>
            </a:r>
            <a:endParaRPr lang="en-US" sz="3600" dirty="0"/>
          </a:p>
        </p:txBody>
      </p:sp>
      <p:sp>
        <p:nvSpPr>
          <p:cNvPr id="4" name="rung-1"/>
          <p:cNvSpPr/>
          <p:nvPr/>
        </p:nvSpPr>
        <p:spPr>
          <a:xfrm>
            <a:off x="548640" y="1371600"/>
            <a:ext cx="11094415" cy="585216"/>
          </a:xfrm>
          <a:prstGeom prst="roundRect">
            <a:avLst>
              <a:gd name="adj" fmla="val 12500"/>
            </a:avLst>
          </a:prstGeom>
          <a:solidFill>
            <a:srgbClr val="F1F5F9"/>
          </a:solidFill>
          <a:ln w="12700">
            <a:solidFill>
              <a:srgbClr val="F1F5F9"/>
            </a:solidFill>
            <a:prstDash val="solid"/>
          </a:ln>
        </p:spPr>
      </p:sp>
      <p:sp>
        <p:nvSpPr>
          <p:cNvPr id="5" name="Text 2"/>
          <p:cNvSpPr txBox="1"/>
          <p:nvPr/>
        </p:nvSpPr>
        <p:spPr>
          <a:xfrm>
            <a:off x="777240" y="1371600"/>
            <a:ext cx="2011680" cy="585216"/>
          </a:xfrm>
          <a:prstGeom prst="rect">
            <a:avLst/>
          </a:prstGeom>
          <a:noFill/>
          <a:ln/>
        </p:spPr>
        <p:txBody>
          <a:bodyPr wrap="square" lIns="0" tIns="0" rIns="0" bIns="0" rtlCol="0" anchor="ctr"/>
          <a:lstStyle/>
          <a:p>
            <a:pPr indent="0" marL="0">
              <a:buNone/>
            </a:pPr>
            <a:r>
              <a:rPr lang="en-US" sz="2600" b="1" dirty="0">
                <a:solidFill>
                  <a:srgbClr val="0F766E"/>
                </a:solidFill>
                <a:latin typeface="Calibri" pitchFamily="34" charset="0"/>
                <a:ea typeface="Calibri" pitchFamily="34" charset="-122"/>
                <a:cs typeface="Calibri" pitchFamily="34" charset="-120"/>
              </a:rPr>
              <a:t>~70%</a:t>
            </a:r>
            <a:endParaRPr lang="en-US" sz="2600" dirty="0"/>
          </a:p>
        </p:txBody>
      </p:sp>
      <p:sp>
        <p:nvSpPr>
          <p:cNvPr id="6" name="Text 3"/>
          <p:cNvSpPr txBox="1"/>
          <p:nvPr/>
        </p:nvSpPr>
        <p:spPr>
          <a:xfrm>
            <a:off x="2834640" y="1371600"/>
            <a:ext cx="7162495" cy="585216"/>
          </a:xfrm>
          <a:prstGeom prst="rect">
            <a:avLst/>
          </a:prstGeom>
          <a:noFill/>
          <a:ln/>
        </p:spPr>
        <p:txBody>
          <a:bodyPr wrap="square" lIns="0" tIns="0" rIns="0" bIns="0" rtlCol="0" anchor="ctr"/>
          <a:lstStyle/>
          <a:p>
            <a:pPr indent="0" marL="0">
              <a:buNone/>
            </a:pPr>
            <a:r>
              <a:rPr lang="en-US" sz="1700" dirty="0">
                <a:solidFill>
                  <a:srgbClr val="16202C"/>
                </a:solidFill>
                <a:latin typeface="Calibri" pitchFamily="34" charset="0"/>
                <a:ea typeface="Calibri" pitchFamily="34" charset="-122"/>
                <a:cs typeface="Calibri" pitchFamily="34" charset="-120"/>
              </a:rPr>
              <a:t>of websites use PHP</a:t>
            </a:r>
            <a:endParaRPr lang="en-US" sz="1700" dirty="0"/>
          </a:p>
        </p:txBody>
      </p:sp>
      <p:sp>
        <p:nvSpPr>
          <p:cNvPr id="7" name="Text 4"/>
          <p:cNvSpPr txBox="1"/>
          <p:nvPr/>
        </p:nvSpPr>
        <p:spPr>
          <a:xfrm>
            <a:off x="10180015" y="1536192"/>
            <a:ext cx="1234440" cy="256032"/>
          </a:xfrm>
          <a:prstGeom prst="roundRect">
            <a:avLst>
              <a:gd name="adj" fmla="val 21429"/>
            </a:avLst>
          </a:prstGeom>
          <a:solidFill>
            <a:srgbClr val="DBEAFE"/>
          </a:solidFill>
          <a:ln/>
        </p:spPr>
        <p:txBody>
          <a:bodyPr wrap="square" lIns="0" tIns="0" rIns="0" bIns="0" rtlCol="0" anchor="ctr"/>
          <a:lstStyle/>
          <a:p>
            <a:pPr algn="ctr" indent="0" marL="0">
              <a:buNone/>
            </a:pPr>
            <a:r>
              <a:rPr lang="en-US" sz="1000" b="1" spc="100" kern="0" dirty="0">
                <a:solidFill>
                  <a:srgbClr val="1D4ED8"/>
                </a:solidFill>
                <a:latin typeface="Calibri" pitchFamily="34" charset="0"/>
                <a:ea typeface="Calibri" pitchFamily="34" charset="-122"/>
                <a:cs typeface="Calibri" pitchFamily="34" charset="-120"/>
              </a:rPr>
              <a:t>REPORTED</a:t>
            </a:r>
            <a:endParaRPr lang="en-US" sz="1000" dirty="0"/>
          </a:p>
        </p:txBody>
      </p:sp>
      <p:sp>
        <p:nvSpPr>
          <p:cNvPr id="8" name="rung-2"/>
          <p:cNvSpPr/>
          <p:nvPr/>
        </p:nvSpPr>
        <p:spPr>
          <a:xfrm>
            <a:off x="548640" y="2084832"/>
            <a:ext cx="10591495" cy="585216"/>
          </a:xfrm>
          <a:prstGeom prst="roundRect">
            <a:avLst>
              <a:gd name="adj" fmla="val 12500"/>
            </a:avLst>
          </a:prstGeom>
          <a:solidFill>
            <a:srgbClr val="F1F5F9"/>
          </a:solidFill>
          <a:ln w="12700">
            <a:solidFill>
              <a:srgbClr val="F1F5F9"/>
            </a:solidFill>
            <a:prstDash val="solid"/>
          </a:ln>
        </p:spPr>
      </p:sp>
      <p:sp>
        <p:nvSpPr>
          <p:cNvPr id="9" name="Text 6"/>
          <p:cNvSpPr txBox="1"/>
          <p:nvPr/>
        </p:nvSpPr>
        <p:spPr>
          <a:xfrm>
            <a:off x="777240" y="2084832"/>
            <a:ext cx="2011680" cy="585216"/>
          </a:xfrm>
          <a:prstGeom prst="rect">
            <a:avLst/>
          </a:prstGeom>
          <a:noFill/>
          <a:ln/>
        </p:spPr>
        <p:txBody>
          <a:bodyPr wrap="square" lIns="0" tIns="0" rIns="0" bIns="0" rtlCol="0" anchor="ctr"/>
          <a:lstStyle/>
          <a:p>
            <a:pPr indent="0" marL="0">
              <a:buNone/>
            </a:pPr>
            <a:r>
              <a:rPr lang="en-US" sz="2600" b="1" dirty="0">
                <a:solidFill>
                  <a:srgbClr val="0F766E"/>
                </a:solidFill>
                <a:latin typeface="Calibri" pitchFamily="34" charset="0"/>
                <a:ea typeface="Calibri" pitchFamily="34" charset="-122"/>
                <a:cs typeface="Calibri" pitchFamily="34" charset="-120"/>
              </a:rPr>
              <a:t>2.6M</a:t>
            </a:r>
            <a:endParaRPr lang="en-US" sz="2600" dirty="0"/>
          </a:p>
        </p:txBody>
      </p:sp>
      <p:sp>
        <p:nvSpPr>
          <p:cNvPr id="10" name="Text 7"/>
          <p:cNvSpPr txBox="1"/>
          <p:nvPr/>
        </p:nvSpPr>
        <p:spPr>
          <a:xfrm>
            <a:off x="2834640" y="2084832"/>
            <a:ext cx="6659575" cy="585216"/>
          </a:xfrm>
          <a:prstGeom prst="rect">
            <a:avLst/>
          </a:prstGeom>
          <a:noFill/>
          <a:ln/>
        </p:spPr>
        <p:txBody>
          <a:bodyPr wrap="square" lIns="0" tIns="0" rIns="0" bIns="0" rtlCol="0" anchor="ctr"/>
          <a:lstStyle/>
          <a:p>
            <a:pPr indent="0" marL="0">
              <a:buNone/>
            </a:pPr>
            <a:r>
              <a:rPr lang="en-US" sz="1700" dirty="0">
                <a:solidFill>
                  <a:srgbClr val="16202C"/>
                </a:solidFill>
                <a:latin typeface="Calibri" pitchFamily="34" charset="0"/>
                <a:ea typeface="Calibri" pitchFamily="34" charset="-122"/>
                <a:cs typeface="Calibri" pitchFamily="34" charset="-120"/>
              </a:rPr>
              <a:t>internet hosts expose PHP (one scanner)</a:t>
            </a:r>
            <a:endParaRPr lang="en-US" sz="1700" dirty="0"/>
          </a:p>
        </p:txBody>
      </p:sp>
      <p:sp>
        <p:nvSpPr>
          <p:cNvPr id="11" name="Text 8"/>
          <p:cNvSpPr txBox="1"/>
          <p:nvPr/>
        </p:nvSpPr>
        <p:spPr>
          <a:xfrm>
            <a:off x="9677095" y="2249424"/>
            <a:ext cx="1234440" cy="256032"/>
          </a:xfrm>
          <a:prstGeom prst="roundRect">
            <a:avLst>
              <a:gd name="adj" fmla="val 21429"/>
            </a:avLst>
          </a:prstGeom>
          <a:solidFill>
            <a:srgbClr val="DBEAFE"/>
          </a:solidFill>
          <a:ln/>
        </p:spPr>
        <p:txBody>
          <a:bodyPr wrap="square" lIns="0" tIns="0" rIns="0" bIns="0" rtlCol="0" anchor="ctr"/>
          <a:lstStyle/>
          <a:p>
            <a:pPr algn="ctr" indent="0" marL="0">
              <a:buNone/>
            </a:pPr>
            <a:r>
              <a:rPr lang="en-US" sz="1000" b="1" spc="100" kern="0" dirty="0">
                <a:solidFill>
                  <a:srgbClr val="1D4ED8"/>
                </a:solidFill>
                <a:latin typeface="Calibri" pitchFamily="34" charset="0"/>
                <a:ea typeface="Calibri" pitchFamily="34" charset="-122"/>
                <a:cs typeface="Calibri" pitchFamily="34" charset="-120"/>
              </a:rPr>
              <a:t>REPORTED</a:t>
            </a:r>
            <a:endParaRPr lang="en-US" sz="1000" dirty="0"/>
          </a:p>
        </p:txBody>
      </p:sp>
      <p:sp>
        <p:nvSpPr>
          <p:cNvPr id="12" name="rung-3"/>
          <p:cNvSpPr/>
          <p:nvPr/>
        </p:nvSpPr>
        <p:spPr>
          <a:xfrm>
            <a:off x="548640" y="2798064"/>
            <a:ext cx="10088575" cy="585216"/>
          </a:xfrm>
          <a:prstGeom prst="roundRect">
            <a:avLst>
              <a:gd name="adj" fmla="val 12500"/>
            </a:avLst>
          </a:prstGeom>
          <a:solidFill>
            <a:srgbClr val="F1F5F9"/>
          </a:solidFill>
          <a:ln w="12700">
            <a:solidFill>
              <a:srgbClr val="F1F5F9"/>
            </a:solidFill>
            <a:prstDash val="solid"/>
          </a:ln>
        </p:spPr>
      </p:sp>
      <p:sp>
        <p:nvSpPr>
          <p:cNvPr id="13" name="Text 10"/>
          <p:cNvSpPr txBox="1"/>
          <p:nvPr/>
        </p:nvSpPr>
        <p:spPr>
          <a:xfrm>
            <a:off x="777240" y="2798064"/>
            <a:ext cx="2011680" cy="585216"/>
          </a:xfrm>
          <a:prstGeom prst="rect">
            <a:avLst/>
          </a:prstGeom>
          <a:noFill/>
          <a:ln/>
        </p:spPr>
        <p:txBody>
          <a:bodyPr wrap="square" lIns="0" tIns="0" rIns="0" bIns="0" rtlCol="0" anchor="ctr"/>
          <a:lstStyle/>
          <a:p>
            <a:pPr indent="0" marL="0">
              <a:buNone/>
            </a:pPr>
            <a:r>
              <a:rPr lang="en-US" sz="2600" b="1" dirty="0">
                <a:solidFill>
                  <a:srgbClr val="0F766E"/>
                </a:solidFill>
                <a:latin typeface="Calibri" pitchFamily="34" charset="0"/>
                <a:ea typeface="Calibri" pitchFamily="34" charset="-122"/>
                <a:cs typeface="Calibri" pitchFamily="34" charset="-120"/>
              </a:rPr>
              <a:t>1.57M</a:t>
            </a:r>
            <a:endParaRPr lang="en-US" sz="2600" dirty="0"/>
          </a:p>
        </p:txBody>
      </p:sp>
      <p:sp>
        <p:nvSpPr>
          <p:cNvPr id="14" name="Text 11"/>
          <p:cNvSpPr txBox="1"/>
          <p:nvPr/>
        </p:nvSpPr>
        <p:spPr>
          <a:xfrm>
            <a:off x="2834640" y="2798064"/>
            <a:ext cx="6156655" cy="585216"/>
          </a:xfrm>
          <a:prstGeom prst="rect">
            <a:avLst/>
          </a:prstGeom>
          <a:noFill/>
          <a:ln/>
        </p:spPr>
        <p:txBody>
          <a:bodyPr wrap="square" lIns="0" tIns="0" rIns="0" bIns="0" rtlCol="0" anchor="ctr"/>
          <a:lstStyle/>
          <a:p>
            <a:pPr indent="0" marL="0">
              <a:buNone/>
            </a:pPr>
            <a:r>
              <a:rPr lang="en-US" sz="1700" dirty="0">
                <a:solidFill>
                  <a:srgbClr val="16202C"/>
                </a:solidFill>
                <a:latin typeface="Calibri" pitchFamily="34" charset="0"/>
                <a:ea typeface="Calibri" pitchFamily="34" charset="-122"/>
                <a:cs typeface="Calibri" pitchFamily="34" charset="-120"/>
              </a:rPr>
              <a:t>still unpatched on 21 Oct (Censys)</a:t>
            </a:r>
            <a:endParaRPr lang="en-US" sz="1700" dirty="0"/>
          </a:p>
        </p:txBody>
      </p:sp>
      <p:sp>
        <p:nvSpPr>
          <p:cNvPr id="15" name="Text 12"/>
          <p:cNvSpPr txBox="1"/>
          <p:nvPr/>
        </p:nvSpPr>
        <p:spPr>
          <a:xfrm>
            <a:off x="9174175" y="2962656"/>
            <a:ext cx="1234440" cy="256032"/>
          </a:xfrm>
          <a:prstGeom prst="roundRect">
            <a:avLst>
              <a:gd name="adj" fmla="val 21429"/>
            </a:avLst>
          </a:prstGeom>
          <a:solidFill>
            <a:srgbClr val="DBEAFE"/>
          </a:solidFill>
          <a:ln/>
        </p:spPr>
        <p:txBody>
          <a:bodyPr wrap="square" lIns="0" tIns="0" rIns="0" bIns="0" rtlCol="0" anchor="ctr"/>
          <a:lstStyle/>
          <a:p>
            <a:pPr algn="ctr" indent="0" marL="0">
              <a:buNone/>
            </a:pPr>
            <a:r>
              <a:rPr lang="en-US" sz="1000" b="1" spc="100" kern="0" dirty="0">
                <a:solidFill>
                  <a:srgbClr val="1D4ED8"/>
                </a:solidFill>
                <a:latin typeface="Calibri" pitchFamily="34" charset="0"/>
                <a:ea typeface="Calibri" pitchFamily="34" charset="-122"/>
                <a:cs typeface="Calibri" pitchFamily="34" charset="-120"/>
              </a:rPr>
              <a:t>REPORTED</a:t>
            </a:r>
            <a:endParaRPr lang="en-US" sz="1000" dirty="0"/>
          </a:p>
        </p:txBody>
      </p:sp>
      <p:sp>
        <p:nvSpPr>
          <p:cNvPr id="16" name="rung-4"/>
          <p:cNvSpPr/>
          <p:nvPr/>
        </p:nvSpPr>
        <p:spPr>
          <a:xfrm>
            <a:off x="548640" y="3511296"/>
            <a:ext cx="9585655" cy="585216"/>
          </a:xfrm>
          <a:prstGeom prst="roundRect">
            <a:avLst>
              <a:gd name="adj" fmla="val 12500"/>
            </a:avLst>
          </a:prstGeom>
          <a:solidFill>
            <a:srgbClr val="F1F5F9"/>
          </a:solidFill>
          <a:ln w="12700">
            <a:solidFill>
              <a:srgbClr val="F1F5F9"/>
            </a:solidFill>
            <a:prstDash val="solid"/>
          </a:ln>
        </p:spPr>
      </p:sp>
      <p:sp>
        <p:nvSpPr>
          <p:cNvPr id="17" name="Text 14"/>
          <p:cNvSpPr txBox="1"/>
          <p:nvPr/>
        </p:nvSpPr>
        <p:spPr>
          <a:xfrm>
            <a:off x="777240" y="3511296"/>
            <a:ext cx="2011680" cy="585216"/>
          </a:xfrm>
          <a:prstGeom prst="rect">
            <a:avLst/>
          </a:prstGeom>
          <a:noFill/>
          <a:ln/>
        </p:spPr>
        <p:txBody>
          <a:bodyPr wrap="square" lIns="0" tIns="0" rIns="0" bIns="0" rtlCol="0" anchor="ctr"/>
          <a:lstStyle/>
          <a:p>
            <a:pPr indent="0" marL="0">
              <a:buNone/>
            </a:pPr>
            <a:r>
              <a:rPr lang="en-US" sz="2600" b="1" dirty="0">
                <a:solidFill>
                  <a:srgbClr val="0F766E"/>
                </a:solidFill>
                <a:latin typeface="Calibri" pitchFamily="34" charset="0"/>
                <a:ea typeface="Calibri" pitchFamily="34" charset="-122"/>
                <a:cs typeface="Calibri" pitchFamily="34" charset="-120"/>
              </a:rPr>
              <a:t>millions</a:t>
            </a:r>
            <a:endParaRPr lang="en-US" sz="2600" dirty="0"/>
          </a:p>
        </p:txBody>
      </p:sp>
      <p:sp>
        <p:nvSpPr>
          <p:cNvPr id="18" name="Text 15"/>
          <p:cNvSpPr txBox="1"/>
          <p:nvPr/>
        </p:nvSpPr>
        <p:spPr>
          <a:xfrm>
            <a:off x="2834640" y="3511296"/>
            <a:ext cx="5653735" cy="585216"/>
          </a:xfrm>
          <a:prstGeom prst="rect">
            <a:avLst/>
          </a:prstGeom>
          <a:noFill/>
          <a:ln/>
        </p:spPr>
        <p:txBody>
          <a:bodyPr wrap="square" lIns="0" tIns="0" rIns="0" bIns="0" rtlCol="0" anchor="ctr"/>
          <a:lstStyle/>
          <a:p>
            <a:pPr indent="0" marL="0">
              <a:buNone/>
            </a:pPr>
            <a:r>
              <a:rPr lang="en-US" sz="1700" dirty="0">
                <a:solidFill>
                  <a:srgbClr val="16202C"/>
                </a:solidFill>
                <a:latin typeface="Calibri" pitchFamily="34" charset="0"/>
                <a:ea typeface="Calibri" pitchFamily="34" charset="-122"/>
                <a:cs typeface="Calibri" pitchFamily="34" charset="-120"/>
              </a:rPr>
              <a:t>attempts at one CDN</a:t>
            </a:r>
            <a:endParaRPr lang="en-US" sz="1700" dirty="0"/>
          </a:p>
        </p:txBody>
      </p:sp>
      <p:sp>
        <p:nvSpPr>
          <p:cNvPr id="19" name="Text 16"/>
          <p:cNvSpPr txBox="1"/>
          <p:nvPr/>
        </p:nvSpPr>
        <p:spPr>
          <a:xfrm>
            <a:off x="8671255" y="3675888"/>
            <a:ext cx="1234440" cy="256032"/>
          </a:xfrm>
          <a:prstGeom prst="roundRect">
            <a:avLst>
              <a:gd name="adj" fmla="val 21429"/>
            </a:avLst>
          </a:prstGeom>
          <a:solidFill>
            <a:srgbClr val="DBEAFE"/>
          </a:solidFill>
          <a:ln/>
        </p:spPr>
        <p:txBody>
          <a:bodyPr wrap="square" lIns="0" tIns="0" rIns="0" bIns="0" rtlCol="0" anchor="ctr"/>
          <a:lstStyle/>
          <a:p>
            <a:pPr algn="ctr" indent="0" marL="0">
              <a:buNone/>
            </a:pPr>
            <a:r>
              <a:rPr lang="en-US" sz="1000" b="1" spc="100" kern="0" dirty="0">
                <a:solidFill>
                  <a:srgbClr val="1D4ED8"/>
                </a:solidFill>
                <a:latin typeface="Calibri" pitchFamily="34" charset="0"/>
                <a:ea typeface="Calibri" pitchFamily="34" charset="-122"/>
                <a:cs typeface="Calibri" pitchFamily="34" charset="-120"/>
              </a:rPr>
              <a:t>REPORTED</a:t>
            </a:r>
            <a:endParaRPr lang="en-US" sz="1000" dirty="0"/>
          </a:p>
        </p:txBody>
      </p:sp>
      <p:sp>
        <p:nvSpPr>
          <p:cNvPr id="20" name="rung-5"/>
          <p:cNvSpPr/>
          <p:nvPr/>
        </p:nvSpPr>
        <p:spPr>
          <a:xfrm>
            <a:off x="548640" y="4224528"/>
            <a:ext cx="9082735" cy="585216"/>
          </a:xfrm>
          <a:prstGeom prst="roundRect">
            <a:avLst>
              <a:gd name="adj" fmla="val 12500"/>
            </a:avLst>
          </a:prstGeom>
          <a:solidFill>
            <a:srgbClr val="DCFCE7"/>
          </a:solidFill>
          <a:ln w="12700">
            <a:solidFill>
              <a:srgbClr val="DCFCE7"/>
            </a:solidFill>
            <a:prstDash val="solid"/>
          </a:ln>
        </p:spPr>
      </p:sp>
      <p:sp>
        <p:nvSpPr>
          <p:cNvPr id="21" name="Text 18"/>
          <p:cNvSpPr txBox="1"/>
          <p:nvPr/>
        </p:nvSpPr>
        <p:spPr>
          <a:xfrm>
            <a:off x="777240" y="4224528"/>
            <a:ext cx="2011680" cy="585216"/>
          </a:xfrm>
          <a:prstGeom prst="rect">
            <a:avLst/>
          </a:prstGeom>
          <a:noFill/>
          <a:ln/>
        </p:spPr>
        <p:txBody>
          <a:bodyPr wrap="square" lIns="0" tIns="0" rIns="0" bIns="0" rtlCol="0" anchor="ctr"/>
          <a:lstStyle/>
          <a:p>
            <a:pPr indent="0" marL="0">
              <a:buNone/>
            </a:pPr>
            <a:r>
              <a:rPr lang="en-US" sz="2600" b="1" dirty="0">
                <a:solidFill>
                  <a:srgbClr val="0F766E"/>
                </a:solidFill>
                <a:latin typeface="Calibri" pitchFamily="34" charset="0"/>
                <a:ea typeface="Calibri" pitchFamily="34" charset="-122"/>
                <a:cs typeface="Calibri" pitchFamily="34" charset="-120"/>
              </a:rPr>
              <a:t>0</a:t>
            </a:r>
            <a:endParaRPr lang="en-US" sz="2600" dirty="0"/>
          </a:p>
        </p:txBody>
      </p:sp>
      <p:sp>
        <p:nvSpPr>
          <p:cNvPr id="22" name="Text 19"/>
          <p:cNvSpPr txBox="1"/>
          <p:nvPr/>
        </p:nvSpPr>
        <p:spPr>
          <a:xfrm>
            <a:off x="2834640" y="4224528"/>
            <a:ext cx="5150815" cy="585216"/>
          </a:xfrm>
          <a:prstGeom prst="rect">
            <a:avLst/>
          </a:prstGeom>
          <a:noFill/>
          <a:ln/>
        </p:spPr>
        <p:txBody>
          <a:bodyPr wrap="square" lIns="0" tIns="0" rIns="0" bIns="0" rtlCol="0" anchor="ctr"/>
          <a:lstStyle/>
          <a:p>
            <a:pPr indent="0" marL="0">
              <a:buNone/>
            </a:pPr>
            <a:r>
              <a:rPr lang="en-US" sz="1700" dirty="0">
                <a:solidFill>
                  <a:srgbClr val="16202C"/>
                </a:solidFill>
                <a:latin typeface="Calibri" pitchFamily="34" charset="0"/>
                <a:ea typeface="Calibri" pitchFamily="34" charset="-122"/>
                <a:cs typeface="Calibri" pitchFamily="34" charset="-120"/>
              </a:rPr>
              <a:t>confirmed break-ins</a:t>
            </a:r>
            <a:endParaRPr lang="en-US" sz="1700" dirty="0"/>
          </a:p>
        </p:txBody>
      </p:sp>
      <p:sp>
        <p:nvSpPr>
          <p:cNvPr id="23" name="Text 20"/>
          <p:cNvSpPr txBox="1"/>
          <p:nvPr/>
        </p:nvSpPr>
        <p:spPr>
          <a:xfrm>
            <a:off x="8168335" y="4389120"/>
            <a:ext cx="1234440" cy="256032"/>
          </a:xfrm>
          <a:prstGeom prst="roundRect">
            <a:avLst>
              <a:gd name="adj" fmla="val 21429"/>
            </a:avLst>
          </a:prstGeom>
          <a:solidFill>
            <a:srgbClr val="DCFCE7"/>
          </a:solidFill>
          <a:ln/>
        </p:spPr>
        <p:txBody>
          <a:bodyPr wrap="square" lIns="0" tIns="0" rIns="0" bIns="0" rtlCol="0" anchor="ctr"/>
          <a:lstStyle/>
          <a:p>
            <a:pPr algn="ctr" indent="0" marL="0">
              <a:buNone/>
            </a:pPr>
            <a:r>
              <a:rPr lang="en-US" sz="1000" b="1" spc="100" kern="0" dirty="0">
                <a:solidFill>
                  <a:srgbClr val="15803D"/>
                </a:solidFill>
                <a:latin typeface="Calibri" pitchFamily="34" charset="0"/>
                <a:ea typeface="Calibri" pitchFamily="34" charset="-122"/>
                <a:cs typeface="Calibri" pitchFamily="34" charset="-120"/>
              </a:rPr>
              <a:t>CONFIRMED</a:t>
            </a:r>
            <a:endParaRPr lang="en-US" sz="1000" dirty="0"/>
          </a:p>
        </p:txBody>
      </p:sp>
      <p:sp>
        <p:nvSpPr>
          <p:cNvPr id="24" name="rung-6"/>
          <p:cNvSpPr/>
          <p:nvPr/>
        </p:nvSpPr>
        <p:spPr>
          <a:xfrm>
            <a:off x="548640" y="4937760"/>
            <a:ext cx="8579815" cy="585216"/>
          </a:xfrm>
          <a:prstGeom prst="roundRect">
            <a:avLst>
              <a:gd name="adj" fmla="val 12500"/>
            </a:avLst>
          </a:prstGeom>
          <a:solidFill>
            <a:srgbClr val="F1F5F9"/>
          </a:solidFill>
          <a:ln w="12700">
            <a:solidFill>
              <a:srgbClr val="F1F5F9"/>
            </a:solidFill>
            <a:prstDash val="solid"/>
          </a:ln>
        </p:spPr>
      </p:sp>
      <p:sp>
        <p:nvSpPr>
          <p:cNvPr id="25" name="Text 22"/>
          <p:cNvSpPr txBox="1"/>
          <p:nvPr/>
        </p:nvSpPr>
        <p:spPr>
          <a:xfrm>
            <a:off x="777240" y="4937760"/>
            <a:ext cx="2011680" cy="585216"/>
          </a:xfrm>
          <a:prstGeom prst="rect">
            <a:avLst/>
          </a:prstGeom>
          <a:noFill/>
          <a:ln/>
        </p:spPr>
        <p:txBody>
          <a:bodyPr wrap="square" lIns="0" tIns="0" rIns="0" bIns="0" rtlCol="0" anchor="ctr"/>
          <a:lstStyle/>
          <a:p>
            <a:pPr indent="0" marL="0">
              <a:buNone/>
            </a:pPr>
            <a:r>
              <a:rPr lang="en-US" sz="2600" b="1" dirty="0">
                <a:solidFill>
                  <a:srgbClr val="0F766E"/>
                </a:solidFill>
                <a:latin typeface="Calibri" pitchFamily="34" charset="0"/>
                <a:ea typeface="Calibri" pitchFamily="34" charset="-122"/>
                <a:cs typeface="Calibri" pitchFamily="34" charset="-120"/>
              </a:rPr>
              <a:t>?</a:t>
            </a:r>
            <a:endParaRPr lang="en-US" sz="2600" dirty="0"/>
          </a:p>
        </p:txBody>
      </p:sp>
      <p:sp>
        <p:nvSpPr>
          <p:cNvPr id="26" name="Text 23"/>
          <p:cNvSpPr txBox="1"/>
          <p:nvPr/>
        </p:nvSpPr>
        <p:spPr>
          <a:xfrm>
            <a:off x="2834640" y="4937760"/>
            <a:ext cx="4647895" cy="585216"/>
          </a:xfrm>
          <a:prstGeom prst="rect">
            <a:avLst/>
          </a:prstGeom>
          <a:noFill/>
          <a:ln/>
        </p:spPr>
        <p:txBody>
          <a:bodyPr wrap="square" lIns="0" tIns="0" rIns="0" bIns="0" rtlCol="0" anchor="ctr"/>
          <a:lstStyle/>
          <a:p>
            <a:pPr indent="0" marL="0">
              <a:buNone/>
            </a:pPr>
            <a:r>
              <a:rPr lang="en-US" sz="1700" dirty="0">
                <a:solidFill>
                  <a:srgbClr val="16202C"/>
                </a:solidFill>
                <a:latin typeface="Calibri" pitchFamily="34" charset="0"/>
                <a:ea typeface="Calibri" pitchFamily="34" charset="-122"/>
                <a:cs typeface="Calibri" pitchFamily="34" charset="-120"/>
              </a:rPr>
              <a:t>hit, and holding something worth reaching</a:t>
            </a:r>
            <a:endParaRPr lang="en-US" sz="1700" dirty="0"/>
          </a:p>
        </p:txBody>
      </p:sp>
      <p:sp>
        <p:nvSpPr>
          <p:cNvPr id="27" name="Text 24"/>
          <p:cNvSpPr txBox="1"/>
          <p:nvPr/>
        </p:nvSpPr>
        <p:spPr>
          <a:xfrm>
            <a:off x="7665415" y="5102352"/>
            <a:ext cx="1234440" cy="256032"/>
          </a:xfrm>
          <a:prstGeom prst="roundRect">
            <a:avLst>
              <a:gd name="adj" fmla="val 21429"/>
            </a:avLst>
          </a:prstGeom>
          <a:solidFill>
            <a:srgbClr val="E5E7EB"/>
          </a:solidFill>
          <a:ln/>
        </p:spPr>
        <p:txBody>
          <a:bodyPr wrap="square" lIns="0" tIns="0" rIns="0" bIns="0" rtlCol="0" anchor="ctr"/>
          <a:lstStyle/>
          <a:p>
            <a:pPr algn="ctr" indent="0" marL="0">
              <a:buNone/>
            </a:pPr>
            <a:r>
              <a:rPr lang="en-US" sz="1000" b="1" spc="100" kern="0" dirty="0">
                <a:solidFill>
                  <a:srgbClr val="475569"/>
                </a:solidFill>
                <a:latin typeface="Calibri" pitchFamily="34" charset="0"/>
                <a:ea typeface="Calibri" pitchFamily="34" charset="-122"/>
                <a:cs typeface="Calibri" pitchFamily="34" charset="-120"/>
              </a:rPr>
              <a:t>UNVERIFIED</a:t>
            </a:r>
            <a:endParaRPr lang="en-US" sz="10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ext 0"/>
          <p:cNvSpPr/>
          <p:nvPr>
            <p:ph idx="100" type="title" hasCustomPrompt="1"/>
          </p:nvPr>
        </p:nvSpPr>
        <p:spPr>
          <a:xfrm>
            <a:off x="548640" y="365760"/>
            <a:ext cx="11094415" cy="822960"/>
          </a:xfrm>
          <a:prstGeom prst="rect">
            <a:avLst/>
          </a:prstGeom>
          <a:noFill/>
          <a:ln/>
        </p:spPr>
        <p:txBody>
          <a:bodyPr wrap="square" lIns="0" tIns="0" rIns="0" bIns="0" rtlCol="0" anchor="t"/>
          <a:lstStyle/>
          <a:p>
            <a:pPr algn="l" indent="0" marL="0">
              <a:buNone/>
            </a:pPr>
            <a:r>
              <a:rPr lang="en-US" sz="3600" b="1" dirty="0">
                <a:solidFill>
                  <a:srgbClr val="0B3B3A"/>
                </a:solidFill>
                <a:latin typeface="Calibri" pitchFamily="34" charset="0"/>
                <a:ea typeface="Calibri" pitchFamily="34" charset="-122"/>
                <a:cs typeface="Calibri" pitchFamily="34" charset="-120"/>
              </a:rPr>
              <a:t>What governments say</a:t>
            </a:r>
            <a:endParaRPr lang="en-US" sz="3600" dirty="0"/>
          </a:p>
        </p:txBody>
      </p:sp>
      <p:sp>
        <p:nvSpPr>
          <p:cNvPr id="4" name="Text 1"/>
          <p:cNvSpPr txBox="1"/>
          <p:nvPr/>
        </p:nvSpPr>
        <p:spPr>
          <a:xfrm>
            <a:off x="548640" y="1143000"/>
            <a:ext cx="11094415" cy="457200"/>
          </a:xfrm>
          <a:prstGeom prst="rect">
            <a:avLst/>
          </a:prstGeom>
          <a:noFill/>
          <a:ln/>
        </p:spPr>
        <p:txBody>
          <a:bodyPr wrap="square" lIns="0" tIns="0" rIns="0" bIns="0" rtlCol="0" anchor="ctr"/>
          <a:lstStyle/>
          <a:p>
            <a:pPr indent="0" marL="0">
              <a:buNone/>
            </a:pPr>
            <a:r>
              <a:rPr lang="en-US" sz="1800" dirty="0">
                <a:solidFill>
                  <a:srgbClr val="334155"/>
                </a:solidFill>
                <a:latin typeface="Calibri" pitchFamily="34" charset="0"/>
                <a:ea typeface="Calibri" pitchFamily="34" charset="-122"/>
                <a:cs typeface="Calibri" pitchFamily="34" charset="-120"/>
              </a:rPr>
              <a:t>Every agency: install the fix. If you cannot, they disagree.</a:t>
            </a:r>
            <a:endParaRPr lang="en-US" sz="1800" dirty="0"/>
          </a:p>
        </p:txBody>
      </p:sp>
      <p:graphicFrame>
        <p:nvGraphicFramePr>
          <p:cNvPr id="5" name="Chart 0" descr=""/>
          <p:cNvGraphicFramePr/>
          <p:nvPr/>
        </p:nvGraphicFramePr>
        <p:xfrm>
          <a:off x="548640" y="1737360"/>
          <a:ext cx="5852160" cy="4023360"/>
        </p:xfrm>
        <a:graphic xmlns:a="http://schemas.openxmlformats.org/drawingml/2006/main">
          <a:graphicData uri="http://schemas.openxmlformats.org/drawingml/2006/chart">
            <c:chart xmlns:c="http://schemas.openxmlformats.org/drawingml/2006/chart" r:id="rId1"/>
          </a:graphicData>
        </a:graphic>
      </p:graphicFrame>
      <p:sp>
        <p:nvSpPr>
          <p:cNvPr id="6" name="Text 2"/>
          <p:cNvSpPr txBox="1"/>
          <p:nvPr/>
        </p:nvSpPr>
        <p:spPr>
          <a:xfrm>
            <a:off x="548640" y="5806440"/>
            <a:ext cx="5852160" cy="27432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From data/agencies.json</a:t>
            </a:r>
            <a:endParaRPr lang="en-US" sz="1000" dirty="0"/>
          </a:p>
        </p:txBody>
      </p:sp>
      <p:sp>
        <p:nvSpPr>
          <p:cNvPr id="7" name="Text 3"/>
          <p:cNvSpPr txBox="1"/>
          <p:nvPr/>
        </p:nvSpPr>
        <p:spPr>
          <a:xfrm>
            <a:off x="6858000" y="1920240"/>
            <a:ext cx="4785055" cy="384048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16202C"/>
                </a:solidFill>
                <a:latin typeface="Calibri" pitchFamily="34" charset="0"/>
                <a:ea typeface="Calibri" pitchFamily="34" charset="-122"/>
                <a:cs typeface="Calibri" pitchFamily="34" charset="-120"/>
              </a:rPr>
              <a:t>[confirmed] US (NSA, CISA): take it offline. UK (NCSC): consider it, after the temporary mitigations. EU, France, Canada: isolate from public networks.</a:t>
            </a:r>
            <a:endParaRPr lang="en-US" sz="16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ext 0"/>
          <p:cNvSpPr/>
          <p:nvPr>
            <p:ph idx="100" type="title" hasCustomPrompt="1"/>
          </p:nvPr>
        </p:nvSpPr>
        <p:spPr>
          <a:xfrm>
            <a:off x="548640" y="365760"/>
            <a:ext cx="11094415" cy="822960"/>
          </a:xfrm>
          <a:prstGeom prst="rect">
            <a:avLst/>
          </a:prstGeom>
          <a:noFill/>
          <a:ln/>
        </p:spPr>
        <p:txBody>
          <a:bodyPr wrap="square" lIns="0" tIns="0" rIns="0" bIns="0" rtlCol="0" anchor="t"/>
          <a:lstStyle/>
          <a:p>
            <a:pPr algn="l" indent="0" marL="0">
              <a:buNone/>
            </a:pPr>
            <a:r>
              <a:rPr lang="en-US" sz="3600" b="1" dirty="0">
                <a:solidFill>
                  <a:srgbClr val="0B3B3A"/>
                </a:solidFill>
                <a:latin typeface="Calibri" pitchFamily="34" charset="0"/>
                <a:ea typeface="Calibri" pitchFamily="34" charset="-122"/>
                <a:cs typeface="Calibri" pitchFamily="34" charset="-120"/>
              </a:rPr>
              <a:t>Who gets a fix</a:t>
            </a:r>
            <a:endParaRPr lang="en-US" sz="3600" dirty="0"/>
          </a:p>
        </p:txBody>
      </p:sp>
      <p:sp>
        <p:nvSpPr>
          <p:cNvPr id="4" name="column-1"/>
          <p:cNvSpPr/>
          <p:nvPr/>
        </p:nvSpPr>
        <p:spPr>
          <a:xfrm>
            <a:off x="548640" y="1371600"/>
            <a:ext cx="3515258" cy="3931920"/>
          </a:xfrm>
          <a:prstGeom prst="roundRect">
            <a:avLst>
              <a:gd name="adj" fmla="val 2601"/>
            </a:avLst>
          </a:prstGeom>
          <a:solidFill>
            <a:srgbClr val="F1F5F9"/>
          </a:solidFill>
          <a:ln w="12700">
            <a:solidFill>
              <a:srgbClr val="F1F5F9"/>
            </a:solidFill>
            <a:prstDash val="solid"/>
          </a:ln>
        </p:spPr>
      </p:sp>
      <p:sp>
        <p:nvSpPr>
          <p:cNvPr id="5" name="Text 2"/>
          <p:cNvSpPr txBox="1"/>
          <p:nvPr/>
        </p:nvSpPr>
        <p:spPr>
          <a:xfrm>
            <a:off x="822960" y="1554480"/>
            <a:ext cx="2966618" cy="457200"/>
          </a:xfrm>
          <a:prstGeom prst="rect">
            <a:avLst/>
          </a:prstGeom>
          <a:noFill/>
          <a:ln/>
        </p:spPr>
        <p:txBody>
          <a:bodyPr wrap="square" lIns="0" tIns="0" rIns="0" bIns="0" rtlCol="0" anchor="ctr"/>
          <a:lstStyle/>
          <a:p>
            <a:pPr indent="0" marL="0">
              <a:buNone/>
            </a:pPr>
            <a:r>
              <a:rPr lang="en-US" sz="2000" b="1" dirty="0">
                <a:solidFill>
                  <a:srgbClr val="0B3B3A"/>
                </a:solidFill>
                <a:latin typeface="Calibri" pitchFamily="34" charset="0"/>
                <a:ea typeface="Calibri" pitchFamily="34" charset="-122"/>
                <a:cs typeface="Calibri" pitchFamily="34" charset="-120"/>
              </a:rPr>
              <a:t>Supported: fixed</a:t>
            </a:r>
            <a:endParaRPr lang="en-US" sz="2000" dirty="0"/>
          </a:p>
        </p:txBody>
      </p:sp>
      <p:sp>
        <p:nvSpPr>
          <p:cNvPr id="6" name="Text 3"/>
          <p:cNvSpPr txBox="1"/>
          <p:nvPr/>
        </p:nvSpPr>
        <p:spPr>
          <a:xfrm>
            <a:off x="822960" y="2057400"/>
            <a:ext cx="1234440" cy="256032"/>
          </a:xfrm>
          <a:prstGeom prst="roundRect">
            <a:avLst>
              <a:gd name="adj" fmla="val 21429"/>
            </a:avLst>
          </a:prstGeom>
          <a:solidFill>
            <a:srgbClr val="DCFCE7"/>
          </a:solidFill>
          <a:ln/>
        </p:spPr>
        <p:txBody>
          <a:bodyPr wrap="square" lIns="0" tIns="0" rIns="0" bIns="0" rtlCol="0" anchor="ctr"/>
          <a:lstStyle/>
          <a:p>
            <a:pPr algn="ctr" indent="0" marL="0">
              <a:buNone/>
            </a:pPr>
            <a:r>
              <a:rPr lang="en-US" sz="1000" b="1" spc="100" kern="0" dirty="0">
                <a:solidFill>
                  <a:srgbClr val="15803D"/>
                </a:solidFill>
                <a:latin typeface="Calibri" pitchFamily="34" charset="0"/>
                <a:ea typeface="Calibri" pitchFamily="34" charset="-122"/>
                <a:cs typeface="Calibri" pitchFamily="34" charset="-120"/>
              </a:rPr>
              <a:t>CONFIRMED</a:t>
            </a:r>
            <a:endParaRPr lang="en-US" sz="1000" dirty="0"/>
          </a:p>
        </p:txBody>
      </p:sp>
      <p:sp>
        <p:nvSpPr>
          <p:cNvPr id="7" name="Text 4"/>
          <p:cNvSpPr txBox="1"/>
          <p:nvPr/>
        </p:nvSpPr>
        <p:spPr>
          <a:xfrm>
            <a:off x="822960" y="2468880"/>
            <a:ext cx="2966618" cy="274320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16202C"/>
                </a:solidFill>
                <a:latin typeface="Calibri" pitchFamily="34" charset="0"/>
                <a:ea typeface="Calibri" pitchFamily="34" charset="-122"/>
                <a:cs typeface="Calibri" pitchFamily="34" charset="-120"/>
              </a:rPr>
              <a:t>8.5.12, 8.4.27, 8.3.36, 8.2.35</a:t>
            </a:r>
            <a:endParaRPr lang="en-US" sz="1600" dirty="0"/>
          </a:p>
          <a:p>
            <a:pPr marL="342900" indent="-342900">
              <a:spcAft>
                <a:spcPts val="800"/>
              </a:spcAft>
              <a:buSzPct val="100000"/>
              <a:buChar char="•"/>
            </a:pPr>
            <a:r>
              <a:rPr lang="en-US" sz="1600" dirty="0">
                <a:solidFill>
                  <a:srgbClr val="16202C"/>
                </a:solidFill>
                <a:latin typeface="Calibri" pitchFamily="34" charset="0"/>
                <a:ea typeface="Calibri" pitchFamily="34" charset="-122"/>
                <a:cs typeface="Calibri" pitchFamily="34" charset="-120"/>
              </a:rPr>
              <a:t>released 21 October, 14:00 UTC</a:t>
            </a:r>
            <a:endParaRPr lang="en-US" sz="1600" dirty="0"/>
          </a:p>
          <a:p>
            <a:pPr marL="342900" indent="-342900">
              <a:spcAft>
                <a:spcPts val="800"/>
              </a:spcAft>
              <a:buSzPct val="100000"/>
              <a:buChar char="•"/>
            </a:pPr>
            <a:r>
              <a:rPr lang="en-US" sz="1600" dirty="0">
                <a:solidFill>
                  <a:srgbClr val="16202C"/>
                </a:solidFill>
                <a:latin typeface="Calibri" pitchFamily="34" charset="0"/>
                <a:ea typeface="Calibri" pitchFamily="34" charset="-122"/>
                <a:cs typeface="Calibri" pitchFamily="34" charset="-120"/>
              </a:rPr>
              <a:t>OS packages from 15:30 UTC (Red Hat first)</a:t>
            </a:r>
            <a:endParaRPr lang="en-US" sz="1600" dirty="0"/>
          </a:p>
        </p:txBody>
      </p:sp>
      <p:sp>
        <p:nvSpPr>
          <p:cNvPr id="8" name="column-2"/>
          <p:cNvSpPr/>
          <p:nvPr/>
        </p:nvSpPr>
        <p:spPr>
          <a:xfrm>
            <a:off x="4338218" y="1371600"/>
            <a:ext cx="3515258" cy="3931920"/>
          </a:xfrm>
          <a:prstGeom prst="roundRect">
            <a:avLst>
              <a:gd name="adj" fmla="val 2601"/>
            </a:avLst>
          </a:prstGeom>
          <a:solidFill>
            <a:srgbClr val="F1F5F9"/>
          </a:solidFill>
          <a:ln w="12700">
            <a:solidFill>
              <a:srgbClr val="F1F5F9"/>
            </a:solidFill>
            <a:prstDash val="solid"/>
          </a:ln>
        </p:spPr>
      </p:sp>
      <p:sp>
        <p:nvSpPr>
          <p:cNvPr id="9" name="Text 6"/>
          <p:cNvSpPr txBox="1"/>
          <p:nvPr/>
        </p:nvSpPr>
        <p:spPr>
          <a:xfrm>
            <a:off x="4612538" y="1554480"/>
            <a:ext cx="2966618" cy="457200"/>
          </a:xfrm>
          <a:prstGeom prst="rect">
            <a:avLst/>
          </a:prstGeom>
          <a:noFill/>
          <a:ln/>
        </p:spPr>
        <p:txBody>
          <a:bodyPr wrap="square" lIns="0" tIns="0" rIns="0" bIns="0" rtlCol="0" anchor="ctr"/>
          <a:lstStyle/>
          <a:p>
            <a:pPr indent="0" marL="0">
              <a:buNone/>
            </a:pPr>
            <a:r>
              <a:rPr lang="en-US" sz="2000" b="1" dirty="0">
                <a:solidFill>
                  <a:srgbClr val="0B3B3A"/>
                </a:solidFill>
                <a:latin typeface="Calibri" pitchFamily="34" charset="0"/>
                <a:ea typeface="Calibri" pitchFamily="34" charset="-122"/>
                <a:cs typeface="Calibri" pitchFamily="34" charset="-120"/>
              </a:rPr>
              <a:t>End of life: partial</a:t>
            </a:r>
            <a:endParaRPr lang="en-US" sz="2000" dirty="0"/>
          </a:p>
        </p:txBody>
      </p:sp>
      <p:sp>
        <p:nvSpPr>
          <p:cNvPr id="10" name="Text 7"/>
          <p:cNvSpPr txBox="1"/>
          <p:nvPr/>
        </p:nvSpPr>
        <p:spPr>
          <a:xfrm>
            <a:off x="4612538" y="2057400"/>
            <a:ext cx="1234440" cy="256032"/>
          </a:xfrm>
          <a:prstGeom prst="roundRect">
            <a:avLst>
              <a:gd name="adj" fmla="val 21429"/>
            </a:avLst>
          </a:prstGeom>
          <a:solidFill>
            <a:srgbClr val="DCFCE7"/>
          </a:solidFill>
          <a:ln/>
        </p:spPr>
        <p:txBody>
          <a:bodyPr wrap="square" lIns="0" tIns="0" rIns="0" bIns="0" rtlCol="0" anchor="ctr"/>
          <a:lstStyle/>
          <a:p>
            <a:pPr algn="ctr" indent="0" marL="0">
              <a:buNone/>
            </a:pPr>
            <a:r>
              <a:rPr lang="en-US" sz="1000" b="1" spc="100" kern="0" dirty="0">
                <a:solidFill>
                  <a:srgbClr val="15803D"/>
                </a:solidFill>
                <a:latin typeface="Calibri" pitchFamily="34" charset="0"/>
                <a:ea typeface="Calibri" pitchFamily="34" charset="-122"/>
                <a:cs typeface="Calibri" pitchFamily="34" charset="-120"/>
              </a:rPr>
              <a:t>CONFIRMED</a:t>
            </a:r>
            <a:endParaRPr lang="en-US" sz="1000" dirty="0"/>
          </a:p>
        </p:txBody>
      </p:sp>
      <p:sp>
        <p:nvSpPr>
          <p:cNvPr id="11" name="Text 8"/>
          <p:cNvSpPr txBox="1"/>
          <p:nvPr/>
        </p:nvSpPr>
        <p:spPr>
          <a:xfrm>
            <a:off x="4612538" y="2468880"/>
            <a:ext cx="2966618" cy="274320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16202C"/>
                </a:solidFill>
                <a:latin typeface="Calibri" pitchFamily="34" charset="0"/>
                <a:ea typeface="Calibri" pitchFamily="34" charset="-122"/>
                <a:cs typeface="Calibri" pitchFamily="34" charset="-120"/>
              </a:rPr>
              <a:t>8.1, 8.0: a source backport, no release</a:t>
            </a:r>
            <a:endParaRPr lang="en-US" sz="1600" dirty="0"/>
          </a:p>
          <a:p>
            <a:pPr marL="342900" indent="-342900">
              <a:spcAft>
                <a:spcPts val="800"/>
              </a:spcAft>
              <a:buSzPct val="100000"/>
              <a:buChar char="•"/>
            </a:pPr>
            <a:r>
              <a:rPr lang="en-US" sz="1600" dirty="0">
                <a:solidFill>
                  <a:srgbClr val="16202C"/>
                </a:solidFill>
                <a:latin typeface="Calibri" pitchFamily="34" charset="0"/>
                <a:ea typeface="Calibri" pitchFamily="34" charset="-122"/>
                <a:cs typeface="Calibri" pitchFamily="34" charset="-120"/>
              </a:rPr>
              <a:t>7.4: a mitigation commit on a branch</a:t>
            </a:r>
            <a:endParaRPr lang="en-US" sz="1600" dirty="0"/>
          </a:p>
          <a:p>
            <a:pPr marL="342900" indent="-342900">
              <a:spcAft>
                <a:spcPts val="800"/>
              </a:spcAft>
              <a:buSzPct val="100000"/>
              <a:buChar char="•"/>
            </a:pPr>
            <a:r>
              <a:rPr lang="en-US" sz="1600" dirty="0">
                <a:solidFill>
                  <a:srgbClr val="16202C"/>
                </a:solidFill>
                <a:latin typeface="Calibri" pitchFamily="34" charset="0"/>
                <a:ea typeface="Calibri" pitchFamily="34" charset="-122"/>
                <a:cs typeface="Calibri" pitchFamily="34" charset="-120"/>
              </a:rPr>
              <a:t>7.3 and older: nothing</a:t>
            </a:r>
            <a:endParaRPr lang="en-US" sz="1600" dirty="0"/>
          </a:p>
        </p:txBody>
      </p:sp>
      <p:sp>
        <p:nvSpPr>
          <p:cNvPr id="12" name="column-3"/>
          <p:cNvSpPr/>
          <p:nvPr/>
        </p:nvSpPr>
        <p:spPr>
          <a:xfrm>
            <a:off x="8127797" y="1371600"/>
            <a:ext cx="3515258" cy="3931920"/>
          </a:xfrm>
          <a:prstGeom prst="roundRect">
            <a:avLst>
              <a:gd name="adj" fmla="val 2601"/>
            </a:avLst>
          </a:prstGeom>
          <a:solidFill>
            <a:srgbClr val="F1F5F9"/>
          </a:solidFill>
          <a:ln w="12700">
            <a:solidFill>
              <a:srgbClr val="F1F5F9"/>
            </a:solidFill>
            <a:prstDash val="solid"/>
          </a:ln>
        </p:spPr>
      </p:sp>
      <p:sp>
        <p:nvSpPr>
          <p:cNvPr id="13" name="Text 10"/>
          <p:cNvSpPr txBox="1"/>
          <p:nvPr/>
        </p:nvSpPr>
        <p:spPr>
          <a:xfrm>
            <a:off x="8402117" y="1554480"/>
            <a:ext cx="2966618" cy="457200"/>
          </a:xfrm>
          <a:prstGeom prst="rect">
            <a:avLst/>
          </a:prstGeom>
          <a:noFill/>
          <a:ln/>
        </p:spPr>
        <p:txBody>
          <a:bodyPr wrap="square" lIns="0" tIns="0" rIns="0" bIns="0" rtlCol="0" anchor="ctr"/>
          <a:lstStyle/>
          <a:p>
            <a:pPr indent="0" marL="0">
              <a:buNone/>
            </a:pPr>
            <a:r>
              <a:rPr lang="en-US" sz="2000" b="1" dirty="0">
                <a:solidFill>
                  <a:srgbClr val="0B3B3A"/>
                </a:solidFill>
                <a:latin typeface="Calibri" pitchFamily="34" charset="0"/>
                <a:ea typeface="Calibri" pitchFamily="34" charset="-122"/>
                <a:cs typeface="Calibri" pitchFamily="34" charset="-120"/>
              </a:rPr>
              <a:t>Products built on PHP</a:t>
            </a:r>
            <a:endParaRPr lang="en-US" sz="2000" dirty="0"/>
          </a:p>
        </p:txBody>
      </p:sp>
      <p:sp>
        <p:nvSpPr>
          <p:cNvPr id="14" name="Text 11"/>
          <p:cNvSpPr txBox="1"/>
          <p:nvPr/>
        </p:nvSpPr>
        <p:spPr>
          <a:xfrm>
            <a:off x="8402117" y="2057400"/>
            <a:ext cx="1234440" cy="256032"/>
          </a:xfrm>
          <a:prstGeom prst="roundRect">
            <a:avLst>
              <a:gd name="adj" fmla="val 21429"/>
            </a:avLst>
          </a:prstGeom>
          <a:solidFill>
            <a:srgbClr val="DBEAFE"/>
          </a:solidFill>
          <a:ln/>
        </p:spPr>
        <p:txBody>
          <a:bodyPr wrap="square" lIns="0" tIns="0" rIns="0" bIns="0" rtlCol="0" anchor="ctr"/>
          <a:lstStyle/>
          <a:p>
            <a:pPr algn="ctr" indent="0" marL="0">
              <a:buNone/>
            </a:pPr>
            <a:r>
              <a:rPr lang="en-US" sz="1000" b="1" spc="100" kern="0" dirty="0">
                <a:solidFill>
                  <a:srgbClr val="1D4ED8"/>
                </a:solidFill>
                <a:latin typeface="Calibri" pitchFamily="34" charset="0"/>
                <a:ea typeface="Calibri" pitchFamily="34" charset="-122"/>
                <a:cs typeface="Calibri" pitchFamily="34" charset="-120"/>
              </a:rPr>
              <a:t>REPORTED</a:t>
            </a:r>
            <a:endParaRPr lang="en-US" sz="1000" dirty="0"/>
          </a:p>
        </p:txBody>
      </p:sp>
      <p:sp>
        <p:nvSpPr>
          <p:cNvPr id="15" name="Text 12"/>
          <p:cNvSpPr txBox="1"/>
          <p:nvPr/>
        </p:nvSpPr>
        <p:spPr>
          <a:xfrm>
            <a:off x="8402117" y="2468880"/>
            <a:ext cx="2966618" cy="274320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16202C"/>
                </a:solidFill>
                <a:latin typeface="Calibri" pitchFamily="34" charset="0"/>
                <a:ea typeface="Calibri" pitchFamily="34" charset="-122"/>
                <a:cs typeface="Calibri" pitchFamily="34" charset="-120"/>
              </a:rPr>
              <a:t>724 in the Dutch NCSC list at 15:28 UTC</a:t>
            </a:r>
            <a:endParaRPr lang="en-US" sz="1600" dirty="0"/>
          </a:p>
          <a:p>
            <a:pPr marL="342900" indent="-342900">
              <a:spcAft>
                <a:spcPts val="800"/>
              </a:spcAft>
              <a:buSzPct val="100000"/>
              <a:buChar char="•"/>
            </a:pPr>
            <a:r>
              <a:rPr lang="en-US" sz="1600" dirty="0">
                <a:solidFill>
                  <a:srgbClr val="16202C"/>
                </a:solidFill>
                <a:latin typeface="Calibri" pitchFamily="34" charset="0"/>
                <a:ea typeface="Calibri" pitchFamily="34" charset="-122"/>
                <a:cs typeface="Calibri" pitchFamily="34" charset="-120"/>
              </a:rPr>
              <a:t>61 fixed, 216 vulnerable</a:t>
            </a:r>
            <a:endParaRPr lang="en-US" sz="1600" dirty="0"/>
          </a:p>
          <a:p>
            <a:pPr marL="342900" indent="-342900">
              <a:spcAft>
                <a:spcPts val="800"/>
              </a:spcAft>
              <a:buSzPct val="100000"/>
              <a:buChar char="•"/>
            </a:pPr>
            <a:r>
              <a:rPr lang="en-US" sz="1600" dirty="0">
                <a:solidFill>
                  <a:srgbClr val="16202C"/>
                </a:solidFill>
                <a:latin typeface="Calibri" pitchFamily="34" charset="0"/>
                <a:ea typeface="Calibri" pitchFamily="34" charset="-122"/>
                <a:cs typeface="Calibri" pitchFamily="34" charset="-120"/>
              </a:rPr>
              <a:t>440 still being investigated</a:t>
            </a:r>
            <a:endParaRPr lang="en-US" sz="1600" dirty="0"/>
          </a:p>
        </p:txBody>
      </p:sp>
      <p:sp>
        <p:nvSpPr>
          <p:cNvPr id="16" name="Text 13"/>
          <p:cNvSpPr txBox="1"/>
          <p:nvPr/>
        </p:nvSpPr>
        <p:spPr>
          <a:xfrm>
            <a:off x="548640" y="5486400"/>
            <a:ext cx="11094415" cy="320040"/>
          </a:xfrm>
          <a:prstGeom prst="rect">
            <a:avLst/>
          </a:prstGeom>
          <a:noFill/>
          <a:ln/>
        </p:spPr>
        <p:txBody>
          <a:bodyPr wrap="square" lIns="0" tIns="0" rIns="0" bIns="0" rtlCol="0" anchor="ctr"/>
          <a:lstStyle/>
          <a:p>
            <a:pPr indent="0" marL="0">
              <a:buNone/>
            </a:pPr>
            <a:r>
              <a:rPr lang="en-US" sz="1200" dirty="0">
                <a:solidFill>
                  <a:srgbClr val="9A3412"/>
                </a:solidFill>
                <a:latin typeface="Calibri" pitchFamily="34" charset="0"/>
                <a:ea typeface="Calibri" pitchFamily="34" charset="-122"/>
                <a:cs typeface="Calibri" pitchFamily="34" charset="-120"/>
              </a:rPr>
              <a:t>The product counts are from the NCSC-NL list at 15:28 UTC, after the 11:34 capture.</a:t>
            </a:r>
            <a:endParaRPr lang="en-US" sz="12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ext 0"/>
          <p:cNvSpPr/>
          <p:nvPr>
            <p:ph idx="100" type="title" hasCustomPrompt="1"/>
          </p:nvPr>
        </p:nvSpPr>
        <p:spPr>
          <a:xfrm>
            <a:off x="548640" y="365760"/>
            <a:ext cx="11094415" cy="822960"/>
          </a:xfrm>
          <a:prstGeom prst="rect">
            <a:avLst/>
          </a:prstGeom>
          <a:noFill/>
          <a:ln/>
        </p:spPr>
        <p:txBody>
          <a:bodyPr wrap="square" lIns="0" tIns="0" rIns="0" bIns="0" rtlCol="0" anchor="t"/>
          <a:lstStyle/>
          <a:p>
            <a:pPr algn="l" indent="0" marL="0">
              <a:buNone/>
            </a:pPr>
            <a:r>
              <a:rPr lang="en-US" sz="3600" b="1" dirty="0">
                <a:solidFill>
                  <a:srgbClr val="0B3B3A"/>
                </a:solidFill>
                <a:latin typeface="Calibri" pitchFamily="34" charset="0"/>
                <a:ea typeface="Calibri" pitchFamily="34" charset="-122"/>
                <a:cs typeface="Calibri" pitchFamily="34" charset="-120"/>
              </a:rPr>
              <a:t>What nobody knows yet</a:t>
            </a:r>
            <a:endParaRPr lang="en-US" sz="3600" dirty="0"/>
          </a:p>
        </p:txBody>
      </p:sp>
      <p:sp>
        <p:nvSpPr>
          <p:cNvPr id="4" name="Text 1"/>
          <p:cNvSpPr txBox="1"/>
          <p:nvPr/>
        </p:nvSpPr>
        <p:spPr>
          <a:xfrm>
            <a:off x="548640" y="1371600"/>
            <a:ext cx="11094415" cy="438912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rgbClr val="16202C"/>
                </a:solidFill>
                <a:latin typeface="Calibri" pitchFamily="34" charset="0"/>
                <a:ea typeface="Calibri" pitchFamily="34" charset="-122"/>
                <a:cs typeface="Calibri" pitchFamily="34" charset="-120"/>
              </a:rPr>
              <a:t>Whether any website was actually broken into before it installed the fix.</a:t>
            </a:r>
            <a:endParaRPr lang="en-US" sz="1800" dirty="0"/>
          </a:p>
          <a:p>
            <a:pPr marL="342900" indent="-342900">
              <a:spcAft>
                <a:spcPts val="800"/>
              </a:spcAft>
              <a:buSzPct val="100000"/>
              <a:buChar char="•"/>
            </a:pPr>
            <a:r>
              <a:rPr lang="en-US" sz="1800" dirty="0">
                <a:solidFill>
                  <a:srgbClr val="16202C"/>
                </a:solidFill>
                <a:latin typeface="Calibri" pitchFamily="34" charset="0"/>
                <a:ea typeface="Calibri" pitchFamily="34" charset="-122"/>
                <a:cs typeface="Calibri" pitchFamily="34" charset="-120"/>
              </a:rPr>
              <a:t>[unverified] Whether the fix is complete. A report on 21 October suggested it may not be; the PHP project has not answered it publicly yet.</a:t>
            </a:r>
            <a:endParaRPr lang="en-US" sz="1800" dirty="0"/>
          </a:p>
          <a:p>
            <a:pPr marL="342900" indent="-342900">
              <a:spcAft>
                <a:spcPts val="800"/>
              </a:spcAft>
              <a:buSzPct val="100000"/>
              <a:buChar char="•"/>
            </a:pPr>
            <a:r>
              <a:rPr lang="en-US" sz="1800" dirty="0">
                <a:solidFill>
                  <a:srgbClr val="16202C"/>
                </a:solidFill>
                <a:latin typeface="Calibri" pitchFamily="34" charset="0"/>
                <a:ea typeface="Calibri" pitchFamily="34" charset="-122"/>
                <a:cs typeface="Calibri" pitchFamily="34" charset="-120"/>
              </a:rPr>
              <a:t>Who leaked the news on 20 October, and where.</a:t>
            </a:r>
            <a:endParaRPr lang="en-US" sz="1800" dirty="0"/>
          </a:p>
          <a:p>
            <a:pPr marL="342900" indent="-342900">
              <a:spcAft>
                <a:spcPts val="800"/>
              </a:spcAft>
              <a:buSzPct val="100000"/>
              <a:buChar char="•"/>
            </a:pPr>
            <a:r>
              <a:rPr lang="en-US" sz="1800" dirty="0">
                <a:solidFill>
                  <a:srgbClr val="16202C"/>
                </a:solidFill>
                <a:latin typeface="Calibri" pitchFamily="34" charset="0"/>
                <a:ea typeface="Calibri" pitchFamily="34" charset="-122"/>
                <a:cs typeface="Calibri" pitchFamily="34" charset="-120"/>
              </a:rPr>
              <a:t>Exactly which websites went offline, and why. Most of the list comes from one news live page and has not been confirmed by the organisations named.</a:t>
            </a:r>
            <a:endParaRPr lang="en-US" sz="1800" dirty="0"/>
          </a:p>
          <a:p>
            <a:pPr marL="342900" indent="-342900">
              <a:spcAft>
                <a:spcPts val="800"/>
              </a:spcAft>
              <a:buSzPct val="100000"/>
              <a:buChar char="•"/>
            </a:pPr>
            <a:r>
              <a:rPr lang="en-US" sz="1800" dirty="0">
                <a:solidFill>
                  <a:srgbClr val="16202C"/>
                </a:solidFill>
                <a:latin typeface="Calibri" pitchFamily="34" charset="0"/>
                <a:ea typeface="Calibri" pitchFamily="34" charset="-122"/>
                <a:cs typeface="Calibri" pitchFamily="34" charset="-120"/>
              </a:rPr>
              <a:t>Where the 70% figure comes from. None of the pages that use it says how it was measured.</a:t>
            </a:r>
            <a:endParaRPr lang="en-US" sz="18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ext 0"/>
          <p:cNvSpPr/>
          <p:nvPr>
            <p:ph idx="100" type="title" hasCustomPrompt="1"/>
          </p:nvPr>
        </p:nvSpPr>
        <p:spPr>
          <a:xfrm>
            <a:off x="548640" y="365760"/>
            <a:ext cx="11094415" cy="822960"/>
          </a:xfrm>
          <a:prstGeom prst="rect">
            <a:avLst/>
          </a:prstGeom>
          <a:noFill/>
          <a:ln/>
        </p:spPr>
        <p:txBody>
          <a:bodyPr wrap="square" lIns="0" tIns="0" rIns="0" bIns="0" rtlCol="0" anchor="t"/>
          <a:lstStyle/>
          <a:p>
            <a:pPr algn="l" indent="0" marL="0">
              <a:buNone/>
            </a:pPr>
            <a:r>
              <a:rPr lang="en-US" sz="3600" b="1" dirty="0">
                <a:solidFill>
                  <a:srgbClr val="0B3B3A"/>
                </a:solidFill>
                <a:latin typeface="Calibri" pitchFamily="34" charset="0"/>
                <a:ea typeface="Calibri" pitchFamily="34" charset="-122"/>
                <a:cs typeface="Calibri" pitchFamily="34" charset="-120"/>
              </a:rPr>
              <a:t>What to do, by who you are</a:t>
            </a:r>
            <a:endParaRPr lang="en-US" sz="3600" dirty="0"/>
          </a:p>
        </p:txBody>
      </p:sp>
      <p:sp>
        <p:nvSpPr>
          <p:cNvPr id="4" name="column-1"/>
          <p:cNvSpPr/>
          <p:nvPr/>
        </p:nvSpPr>
        <p:spPr>
          <a:xfrm>
            <a:off x="548640" y="1371600"/>
            <a:ext cx="3515258" cy="3931920"/>
          </a:xfrm>
          <a:prstGeom prst="roundRect">
            <a:avLst>
              <a:gd name="adj" fmla="val 2601"/>
            </a:avLst>
          </a:prstGeom>
          <a:solidFill>
            <a:srgbClr val="F1F5F9"/>
          </a:solidFill>
          <a:ln w="12700">
            <a:solidFill>
              <a:srgbClr val="F1F5F9"/>
            </a:solidFill>
            <a:prstDash val="solid"/>
          </a:ln>
        </p:spPr>
      </p:sp>
      <p:sp>
        <p:nvSpPr>
          <p:cNvPr id="5" name="Text 2"/>
          <p:cNvSpPr txBox="1"/>
          <p:nvPr/>
        </p:nvSpPr>
        <p:spPr>
          <a:xfrm>
            <a:off x="822960" y="1554480"/>
            <a:ext cx="2966618" cy="457200"/>
          </a:xfrm>
          <a:prstGeom prst="rect">
            <a:avLst/>
          </a:prstGeom>
          <a:noFill/>
          <a:ln/>
        </p:spPr>
        <p:txBody>
          <a:bodyPr wrap="square" lIns="0" tIns="0" rIns="0" bIns="0" rtlCol="0" anchor="ctr"/>
          <a:lstStyle/>
          <a:p>
            <a:pPr indent="0" marL="0">
              <a:buNone/>
            </a:pPr>
            <a:r>
              <a:rPr lang="en-US" sz="2000" b="1" dirty="0">
                <a:solidFill>
                  <a:srgbClr val="0B3B3A"/>
                </a:solidFill>
                <a:latin typeface="Calibri" pitchFamily="34" charset="0"/>
                <a:ea typeface="Calibri" pitchFamily="34" charset="-122"/>
                <a:cs typeface="Calibri" pitchFamily="34" charset="-120"/>
              </a:rPr>
              <a:t>You run a website</a:t>
            </a:r>
            <a:endParaRPr lang="en-US" sz="2000" dirty="0"/>
          </a:p>
        </p:txBody>
      </p:sp>
      <p:sp>
        <p:nvSpPr>
          <p:cNvPr id="6" name="Text 3"/>
          <p:cNvSpPr txBox="1"/>
          <p:nvPr/>
        </p:nvSpPr>
        <p:spPr>
          <a:xfrm>
            <a:off x="822960" y="2468880"/>
            <a:ext cx="2966618" cy="274320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16202C"/>
                </a:solidFill>
                <a:latin typeface="Calibri" pitchFamily="34" charset="0"/>
                <a:ea typeface="Calibri" pitchFamily="34" charset="-122"/>
                <a:cs typeface="Calibri" pitchFamily="34" charset="-120"/>
              </a:rPr>
              <a:t>Ask your host which PHP version is serving your site now, and when it was restarted</a:t>
            </a:r>
            <a:endParaRPr lang="en-US" sz="1600" dirty="0"/>
          </a:p>
          <a:p>
            <a:pPr marL="342900" indent="-342900">
              <a:spcAft>
                <a:spcPts val="800"/>
              </a:spcAft>
              <a:buSzPct val="100000"/>
              <a:buChar char="•"/>
            </a:pPr>
            <a:r>
              <a:rPr lang="en-US" sz="1600" dirty="0">
                <a:solidFill>
                  <a:srgbClr val="16202C"/>
                </a:solidFill>
                <a:latin typeface="Calibri" pitchFamily="34" charset="0"/>
                <a:ea typeface="Calibri" pitchFamily="34" charset="-122"/>
                <a:cs typeface="Calibri" pitchFamily="34" charset="-120"/>
              </a:rPr>
              <a:t>Ask whether anything still runs PHP 8.1 or older</a:t>
            </a:r>
            <a:endParaRPr lang="en-US" sz="1600" dirty="0"/>
          </a:p>
        </p:txBody>
      </p:sp>
      <p:sp>
        <p:nvSpPr>
          <p:cNvPr id="7" name="column-2"/>
          <p:cNvSpPr/>
          <p:nvPr/>
        </p:nvSpPr>
        <p:spPr>
          <a:xfrm>
            <a:off x="4338218" y="1371600"/>
            <a:ext cx="3515258" cy="3931920"/>
          </a:xfrm>
          <a:prstGeom prst="roundRect">
            <a:avLst>
              <a:gd name="adj" fmla="val 2601"/>
            </a:avLst>
          </a:prstGeom>
          <a:solidFill>
            <a:srgbClr val="F1F5F9"/>
          </a:solidFill>
          <a:ln w="12700">
            <a:solidFill>
              <a:srgbClr val="F1F5F9"/>
            </a:solidFill>
            <a:prstDash val="solid"/>
          </a:ln>
        </p:spPr>
      </p:sp>
      <p:sp>
        <p:nvSpPr>
          <p:cNvPr id="8" name="Text 5"/>
          <p:cNvSpPr txBox="1"/>
          <p:nvPr/>
        </p:nvSpPr>
        <p:spPr>
          <a:xfrm>
            <a:off x="4612538" y="1554480"/>
            <a:ext cx="2966618" cy="457200"/>
          </a:xfrm>
          <a:prstGeom prst="rect">
            <a:avLst/>
          </a:prstGeom>
          <a:noFill/>
          <a:ln/>
        </p:spPr>
        <p:txBody>
          <a:bodyPr wrap="square" lIns="0" tIns="0" rIns="0" bIns="0" rtlCol="0" anchor="ctr"/>
          <a:lstStyle/>
          <a:p>
            <a:pPr indent="0" marL="0">
              <a:buNone/>
            </a:pPr>
            <a:r>
              <a:rPr lang="en-US" sz="2000" b="1" dirty="0">
                <a:solidFill>
                  <a:srgbClr val="0B3B3A"/>
                </a:solidFill>
                <a:latin typeface="Calibri" pitchFamily="34" charset="0"/>
                <a:ea typeface="Calibri" pitchFamily="34" charset="-122"/>
                <a:cs typeface="Calibri" pitchFamily="34" charset="-120"/>
              </a:rPr>
              <a:t>You run the servers</a:t>
            </a:r>
            <a:endParaRPr lang="en-US" sz="2000" dirty="0"/>
          </a:p>
        </p:txBody>
      </p:sp>
      <p:sp>
        <p:nvSpPr>
          <p:cNvPr id="9" name="Text 6"/>
          <p:cNvSpPr txBox="1"/>
          <p:nvPr/>
        </p:nvSpPr>
        <p:spPr>
          <a:xfrm>
            <a:off x="4612538" y="2468880"/>
            <a:ext cx="2966618" cy="274320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16202C"/>
                </a:solidFill>
                <a:latin typeface="Calibri" pitchFamily="34" charset="0"/>
                <a:ea typeface="Calibri" pitchFamily="34" charset="-122"/>
                <a:cs typeface="Calibri" pitchFamily="34" charset="-120"/>
              </a:rPr>
              <a:t>Patch and restart every PHP process</a:t>
            </a:r>
            <a:endParaRPr lang="en-US" sz="1600" dirty="0"/>
          </a:p>
          <a:p>
            <a:pPr marL="342900" indent="-342900">
              <a:spcAft>
                <a:spcPts val="800"/>
              </a:spcAft>
              <a:buSzPct val="100000"/>
              <a:buChar char="•"/>
            </a:pPr>
            <a:r>
              <a:rPr lang="en-US" sz="1600" dirty="0">
                <a:solidFill>
                  <a:srgbClr val="16202C"/>
                </a:solidFill>
                <a:latin typeface="Calibri" pitchFamily="34" charset="0"/>
                <a:ea typeface="Calibri" pitchFamily="34" charset="-122"/>
                <a:cs typeface="Calibri" pitchFamily="34" charset="-120"/>
              </a:rPr>
              <a:t>No patch today: the temporary settings, an edge rule, then offline</a:t>
            </a:r>
            <a:endParaRPr lang="en-US" sz="1600" dirty="0"/>
          </a:p>
          <a:p>
            <a:pPr marL="342900" indent="-342900">
              <a:spcAft>
                <a:spcPts val="800"/>
              </a:spcAft>
              <a:buSzPct val="100000"/>
              <a:buChar char="•"/>
            </a:pPr>
            <a:r>
              <a:rPr lang="en-US" sz="1600" dirty="0">
                <a:solidFill>
                  <a:srgbClr val="16202C"/>
                </a:solidFill>
                <a:latin typeface="Calibri" pitchFamily="34" charset="0"/>
                <a:ea typeface="Calibri" pitchFamily="34" charset="-122"/>
                <a:cs typeface="Calibri" pitchFamily="34" charset="-120"/>
              </a:rPr>
              <a:t>Look for workers spawning shells</a:t>
            </a:r>
            <a:endParaRPr lang="en-US" sz="1600" dirty="0"/>
          </a:p>
        </p:txBody>
      </p:sp>
      <p:sp>
        <p:nvSpPr>
          <p:cNvPr id="10" name="column-3"/>
          <p:cNvSpPr/>
          <p:nvPr/>
        </p:nvSpPr>
        <p:spPr>
          <a:xfrm>
            <a:off x="8127797" y="1371600"/>
            <a:ext cx="3515258" cy="3931920"/>
          </a:xfrm>
          <a:prstGeom prst="roundRect">
            <a:avLst>
              <a:gd name="adj" fmla="val 2601"/>
            </a:avLst>
          </a:prstGeom>
          <a:solidFill>
            <a:srgbClr val="F1F5F9"/>
          </a:solidFill>
          <a:ln w="12700">
            <a:solidFill>
              <a:srgbClr val="F1F5F9"/>
            </a:solidFill>
            <a:prstDash val="solid"/>
          </a:ln>
        </p:spPr>
      </p:sp>
      <p:sp>
        <p:nvSpPr>
          <p:cNvPr id="11" name="Text 8"/>
          <p:cNvSpPr txBox="1"/>
          <p:nvPr/>
        </p:nvSpPr>
        <p:spPr>
          <a:xfrm>
            <a:off x="8402117" y="1554480"/>
            <a:ext cx="2966618" cy="457200"/>
          </a:xfrm>
          <a:prstGeom prst="rect">
            <a:avLst/>
          </a:prstGeom>
          <a:noFill/>
          <a:ln/>
        </p:spPr>
        <p:txBody>
          <a:bodyPr wrap="square" lIns="0" tIns="0" rIns="0" bIns="0" rtlCol="0" anchor="ctr"/>
          <a:lstStyle/>
          <a:p>
            <a:pPr indent="0" marL="0">
              <a:buNone/>
            </a:pPr>
            <a:r>
              <a:rPr lang="en-US" sz="2000" b="1" dirty="0">
                <a:solidFill>
                  <a:srgbClr val="0B3B3A"/>
                </a:solidFill>
                <a:latin typeface="Calibri" pitchFamily="34" charset="0"/>
                <a:ea typeface="Calibri" pitchFamily="34" charset="-122"/>
                <a:cs typeface="Calibri" pitchFamily="34" charset="-120"/>
              </a:rPr>
              <a:t>You own the risk</a:t>
            </a:r>
            <a:endParaRPr lang="en-US" sz="2000" dirty="0"/>
          </a:p>
        </p:txBody>
      </p:sp>
      <p:sp>
        <p:nvSpPr>
          <p:cNvPr id="12" name="Text 9"/>
          <p:cNvSpPr txBox="1"/>
          <p:nvPr/>
        </p:nvSpPr>
        <p:spPr>
          <a:xfrm>
            <a:off x="8402117" y="2468880"/>
            <a:ext cx="2966618" cy="274320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16202C"/>
                </a:solidFill>
                <a:latin typeface="Calibri" pitchFamily="34" charset="0"/>
                <a:ea typeface="Calibri" pitchFamily="34" charset="-122"/>
                <a:cs typeface="Calibri" pitchFamily="34" charset="-120"/>
              </a:rPr>
              <a:t>Name who can take a system offline</a:t>
            </a:r>
            <a:endParaRPr lang="en-US" sz="1600" dirty="0"/>
          </a:p>
          <a:p>
            <a:pPr marL="342900" indent="-342900">
              <a:spcAft>
                <a:spcPts val="800"/>
              </a:spcAft>
              <a:buSzPct val="100000"/>
              <a:buChar char="•"/>
            </a:pPr>
            <a:r>
              <a:rPr lang="en-US" sz="1600" dirty="0">
                <a:solidFill>
                  <a:srgbClr val="16202C"/>
                </a:solidFill>
                <a:latin typeface="Calibri" pitchFamily="34" charset="0"/>
                <a:ea typeface="Calibri" pitchFamily="34" charset="-122"/>
                <a:cs typeface="Calibri" pitchFamily="34" charset="-120"/>
              </a:rPr>
              <a:t>Ask for evidence you were not hit</a:t>
            </a:r>
            <a:endParaRPr lang="en-US" sz="1600" dirty="0"/>
          </a:p>
          <a:p>
            <a:pPr marL="342900" indent="-342900">
              <a:spcAft>
                <a:spcPts val="800"/>
              </a:spcAft>
              <a:buSzPct val="100000"/>
              <a:buChar char="•"/>
            </a:pPr>
            <a:r>
              <a:rPr lang="en-US" sz="1600" dirty="0">
                <a:solidFill>
                  <a:srgbClr val="16202C"/>
                </a:solidFill>
                <a:latin typeface="Calibri" pitchFamily="34" charset="0"/>
                <a:ea typeface="Calibri" pitchFamily="34" charset="-122"/>
                <a:cs typeface="Calibri" pitchFamily="34" charset="-120"/>
              </a:rPr>
              <a:t>Plan for 8.1 and older</a:t>
            </a:r>
            <a:endParaRPr lang="en-US" sz="16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ext 0"/>
          <p:cNvSpPr txBox="1"/>
          <p:nvPr/>
        </p:nvSpPr>
        <p:spPr>
          <a:xfrm>
            <a:off x="731520" y="1097280"/>
            <a:ext cx="9144000" cy="365760"/>
          </a:xfrm>
          <a:prstGeom prst="rect">
            <a:avLst/>
          </a:prstGeom>
          <a:noFill/>
          <a:ln/>
        </p:spPr>
        <p:txBody>
          <a:bodyPr wrap="square" lIns="0" tIns="0" rIns="0" bIns="0" rtlCol="0" anchor="ctr"/>
          <a:lstStyle/>
          <a:p>
            <a:pPr indent="0" marL="0">
              <a:buNone/>
            </a:pPr>
            <a:r>
              <a:rPr lang="en-US" sz="1400" spc="300" kern="0" dirty="0">
                <a:solidFill>
                  <a:srgbClr val="7DD3C8"/>
                </a:solidFill>
                <a:latin typeface="Calibri" pitchFamily="34" charset="0"/>
                <a:ea typeface="Calibri" pitchFamily="34" charset="-122"/>
                <a:cs typeface="Calibri" pitchFamily="34" charset="-120"/>
              </a:rPr>
              <a:t>PHP OCTOBER 2026 · BRIEFING</a:t>
            </a:r>
            <a:endParaRPr lang="en-US" sz="1400" dirty="0"/>
          </a:p>
        </p:txBody>
      </p:sp>
      <p:sp>
        <p:nvSpPr>
          <p:cNvPr id="4" name="Text 1"/>
          <p:cNvSpPr txBox="1"/>
          <p:nvPr/>
        </p:nvSpPr>
        <p:spPr>
          <a:xfrm>
            <a:off x="731520" y="1554480"/>
            <a:ext cx="11094415" cy="1188720"/>
          </a:xfrm>
          <a:prstGeom prst="rect">
            <a:avLst/>
          </a:prstGeom>
          <a:noFill/>
          <a:ln/>
        </p:spPr>
        <p:txBody>
          <a:bodyPr wrap="square" lIns="0" tIns="0" rIns="0" bIns="0" rtlCol="0" anchor="ctr"/>
          <a:lstStyle/>
          <a:p>
            <a:pPr indent="0" marL="0">
              <a:buNone/>
            </a:pPr>
            <a:r>
              <a:rPr lang="en-US" sz="5400" b="1" dirty="0">
                <a:solidFill>
                  <a:srgbClr val="FFFFFF"/>
                </a:solidFill>
                <a:latin typeface="Calibri" pitchFamily="34" charset="0"/>
                <a:ea typeface="Calibri" pitchFamily="34" charset="-122"/>
                <a:cs typeface="Calibri" pitchFamily="34" charset="-120"/>
              </a:rPr>
              <a:t>Check every line</a:t>
            </a:r>
            <a:endParaRPr lang="en-US" sz="5400" dirty="0"/>
          </a:p>
        </p:txBody>
      </p:sp>
      <p:sp>
        <p:nvSpPr>
          <p:cNvPr id="5" name="Text 2"/>
          <p:cNvSpPr txBox="1"/>
          <p:nvPr/>
        </p:nvSpPr>
        <p:spPr>
          <a:xfrm>
            <a:off x="731520" y="2788920"/>
            <a:ext cx="9144000" cy="1005840"/>
          </a:xfrm>
          <a:prstGeom prst="rect">
            <a:avLst/>
          </a:prstGeom>
          <a:noFill/>
          <a:ln/>
        </p:spPr>
        <p:txBody>
          <a:bodyPr wrap="square" lIns="0" tIns="0" rIns="0" bIns="0" rtlCol="0" anchor="t"/>
          <a:lstStyle/>
          <a:p>
            <a:pPr indent="0" marL="0">
              <a:buNone/>
            </a:pPr>
            <a:r>
              <a:rPr lang="en-US" sz="2200" dirty="0">
                <a:solidFill>
                  <a:srgbClr val="CDE7E3"/>
                </a:solidFill>
                <a:latin typeface="Calibri" pitchFamily="34" charset="0"/>
                <a:ea typeface="Calibri" pitchFamily="34" charset="-122"/>
                <a:cs typeface="Calibri" pitchFamily="34" charset="-120"/>
              </a:rPr>
              <a:t>Every fact here links to a saved, hashed copy of its source.</a:t>
            </a:r>
            <a:endParaRPr lang="en-US" sz="2200" dirty="0"/>
          </a:p>
        </p:txBody>
      </p:sp>
      <p:sp>
        <p:nvSpPr>
          <p:cNvPr id="6" name="Text 3"/>
          <p:cNvSpPr txBox="1"/>
          <p:nvPr/>
        </p:nvSpPr>
        <p:spPr>
          <a:xfrm>
            <a:off x="731520" y="3840480"/>
            <a:ext cx="10728655" cy="1371600"/>
          </a:xfrm>
          <a:prstGeom prst="rect">
            <a:avLst/>
          </a:prstGeom>
          <a:noFill/>
          <a:ln/>
        </p:spPr>
        <p:txBody>
          <a:bodyPr wrap="square" lIns="0" tIns="0" rIns="0" bIns="0" rtlCol="0" anchor="t"/>
          <a:lstStyle/>
          <a:p>
            <a:pPr marL="342900" indent="-342900">
              <a:spcAft>
                <a:spcPts val="600"/>
              </a:spcAft>
              <a:buSzPct val="100000"/>
              <a:buChar char="•"/>
            </a:pPr>
            <a:r>
              <a:rPr lang="en-US" sz="1800" dirty="0">
                <a:solidFill>
                  <a:srgbClr val="F1F5F4"/>
                </a:solidFill>
                <a:latin typeface="Calibri" pitchFamily="34" charset="0"/>
                <a:ea typeface="Calibri" pitchFamily="34" charset="-122"/>
                <a:cs typeface="Calibri" pitchFamily="34" charset="-120"/>
              </a:rPr>
              <a:t>php.oct.2026.newsroom.sgit.ai: the situation, every claim, every source</a:t>
            </a:r>
            <a:endParaRPr lang="en-US" sz="1800" dirty="0"/>
          </a:p>
          <a:p>
            <a:pPr marL="342900" indent="-342900">
              <a:spcAft>
                <a:spcPts val="600"/>
              </a:spcAft>
              <a:buSzPct val="100000"/>
              <a:buChar char="•"/>
            </a:pPr>
            <a:r>
              <a:rPr lang="en-US" sz="1800" dirty="0">
                <a:solidFill>
                  <a:srgbClr val="F1F5F4"/>
                </a:solidFill>
                <a:latin typeface="Calibri" pitchFamily="34" charset="0"/>
                <a:ea typeface="Calibri" pitchFamily="34" charset="-122"/>
                <a:cs typeface="Calibri" pitchFamily="34" charset="-120"/>
              </a:rPr>
              <a:t>The storyboards, for people who will not read the table: /storyboards/</a:t>
            </a:r>
            <a:endParaRPr lang="en-US" sz="1800" dirty="0"/>
          </a:p>
          <a:p>
            <a:pPr marL="342900" indent="-342900">
              <a:spcAft>
                <a:spcPts val="600"/>
              </a:spcAft>
              <a:buSzPct val="100000"/>
              <a:buChar char="•"/>
            </a:pPr>
            <a:r>
              <a:rPr lang="en-US" sz="1800" dirty="0">
                <a:solidFill>
                  <a:srgbClr val="F1F5F4"/>
                </a:solidFill>
                <a:latin typeface="Calibri" pitchFamily="34" charset="0"/>
                <a:ea typeface="Calibri" pitchFamily="34" charset="-122"/>
                <a:cs typeface="Calibri" pitchFamily="34" charset="-120"/>
              </a:rPr>
              <a:t>This deck as a page, as markdown and as PowerPoint: /storyboards/briefing-2026-10-22/</a:t>
            </a:r>
            <a:endParaRPr lang="en-US" sz="1800" dirty="0"/>
          </a:p>
        </p:txBody>
      </p:sp>
      <p:sp>
        <p:nvSpPr>
          <p:cNvPr id="7" name="Text 4"/>
          <p:cNvSpPr txBox="1"/>
          <p:nvPr/>
        </p:nvSpPr>
        <p:spPr>
          <a:xfrm>
            <a:off x="731520" y="5303520"/>
            <a:ext cx="10728655" cy="640080"/>
          </a:xfrm>
          <a:prstGeom prst="rect">
            <a:avLst/>
          </a:prstGeom>
          <a:noFill/>
          <a:ln/>
        </p:spPr>
        <p:txBody>
          <a:bodyPr wrap="square" lIns="0" tIns="0" rIns="0" bIns="0" rtlCol="0" anchor="t"/>
          <a:lstStyle/>
          <a:p>
            <a:pPr indent="0" marL="0">
              <a:buNone/>
            </a:pPr>
            <a:r>
              <a:rPr lang="en-US" sz="1500" dirty="0">
                <a:solidFill>
                  <a:srgbClr val="A7D4CD"/>
                </a:solidFill>
                <a:latin typeface="Calibri" pitchFamily="34" charset="0"/>
                <a:ea typeface="Calibri" pitchFamily="34" charset="-122"/>
                <a:cs typeface="Calibri" pitchFamily="34" charset="-120"/>
              </a:rPr>
              <a:t>Dated 22 October 2026, evidence as of 11:34 UTC. When the evidence moves, a new dated deck replaces this one; this one is kept as made.</a:t>
            </a:r>
            <a:endParaRPr lang="en-US" sz="15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B8B0"/>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PHP October 2026, SGit Newsroom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PHP October 2026: the briefing, 22 October 2026</dc:title>
  <dc:subject>Two critical PHP flaws (php2shell): what it is, where it stands, what we know, and the bottom line</dc:subject>
  <dc:creator>storyboard@php.newsroom</dc:creator>
  <cp:lastModifiedBy>storyboard@php.newsroom</cp:lastModifiedBy>
  <cp:revision>1</cp:revision>
  <dcterms:created xsi:type="dcterms:W3CDTF">2026-10-22T19:11:04Z</dcterms:created>
  <dcterms:modified xsi:type="dcterms:W3CDTF">2026-10-22T19:11:04Z</dcterms:modified>
</cp:coreProperties>
</file>